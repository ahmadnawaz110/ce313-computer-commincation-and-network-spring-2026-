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3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8ECF8D-69B2-4BD1-B0B9-00D47AE8AA3D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A86B76-1415-402A-92D8-0F41336DD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49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45FBA47-00C0-47DE-A425-7F139E20AB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F98C21-8BD7-4316-902F-4A0C24D636F8}" type="slidenum">
              <a:rPr lang="en-US" altLang="en-US" b="0"/>
              <a:pPr/>
              <a:t>1</a:t>
            </a:fld>
            <a:endParaRPr lang="en-US" altLang="en-US" b="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7918FEB2-3AE0-4043-8BE5-B1543F4DC35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9475CC5C-7741-43F2-A7A6-02B8CF93F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AA64738-87DF-4BFE-8317-34F581A5A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9FBD0731-42B0-4A8F-B1A6-074D8B083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D3531AE-8838-493F-9AE7-3C0DBC2CE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DF544A-774A-41D6-82C5-CA5B4BC839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0FAF14C-AAE3-4B3D-B5A1-00C42D5FC2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49252A-7FC7-4CBE-8CA9-7D0B8785F6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969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-94742"/>
            <a:ext cx="8286140" cy="1558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9144" y="1621282"/>
            <a:ext cx="7732395" cy="1977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4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4540" y="6290385"/>
            <a:ext cx="26162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hmadNawaz110/CE313-Computer-Commincation-and-Network-Spring-2026-/tree/ma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mailto:Engr.ahmad.nawaz@giki.edu.pk" TargetMode="Externa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.png"/><Relationship Id="rId18" Type="http://schemas.openxmlformats.org/officeDocument/2006/relationships/image" Target="../media/image59.png"/><Relationship Id="rId26" Type="http://schemas.openxmlformats.org/officeDocument/2006/relationships/image" Target="../media/image67.png"/><Relationship Id="rId21" Type="http://schemas.openxmlformats.org/officeDocument/2006/relationships/image" Target="../media/image62.png"/><Relationship Id="rId34" Type="http://schemas.openxmlformats.org/officeDocument/2006/relationships/image" Target="../media/image75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58.png"/><Relationship Id="rId25" Type="http://schemas.openxmlformats.org/officeDocument/2006/relationships/image" Target="../media/image66.png"/><Relationship Id="rId33" Type="http://schemas.openxmlformats.org/officeDocument/2006/relationships/image" Target="../media/image74.png"/><Relationship Id="rId38" Type="http://schemas.openxmlformats.org/officeDocument/2006/relationships/image" Target="../media/image79.png"/><Relationship Id="rId2" Type="http://schemas.openxmlformats.org/officeDocument/2006/relationships/image" Target="../media/image43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29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24" Type="http://schemas.openxmlformats.org/officeDocument/2006/relationships/image" Target="../media/image65.png"/><Relationship Id="rId32" Type="http://schemas.openxmlformats.org/officeDocument/2006/relationships/image" Target="../media/image73.png"/><Relationship Id="rId37" Type="http://schemas.openxmlformats.org/officeDocument/2006/relationships/image" Target="../media/image78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28" Type="http://schemas.openxmlformats.org/officeDocument/2006/relationships/image" Target="../media/image69.png"/><Relationship Id="rId36" Type="http://schemas.openxmlformats.org/officeDocument/2006/relationships/image" Target="../media/image77.png"/><Relationship Id="rId10" Type="http://schemas.openxmlformats.org/officeDocument/2006/relationships/image" Target="../media/image51.png"/><Relationship Id="rId19" Type="http://schemas.openxmlformats.org/officeDocument/2006/relationships/image" Target="../media/image60.png"/><Relationship Id="rId31" Type="http://schemas.openxmlformats.org/officeDocument/2006/relationships/image" Target="../media/image72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Relationship Id="rId22" Type="http://schemas.openxmlformats.org/officeDocument/2006/relationships/image" Target="../media/image63.png"/><Relationship Id="rId27" Type="http://schemas.openxmlformats.org/officeDocument/2006/relationships/image" Target="../media/image68.png"/><Relationship Id="rId30" Type="http://schemas.openxmlformats.org/officeDocument/2006/relationships/image" Target="../media/image71.png"/><Relationship Id="rId35" Type="http://schemas.openxmlformats.org/officeDocument/2006/relationships/image" Target="../media/image76.png"/><Relationship Id="rId8" Type="http://schemas.openxmlformats.org/officeDocument/2006/relationships/image" Target="../media/image49.png"/><Relationship Id="rId3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26" Type="http://schemas.openxmlformats.org/officeDocument/2006/relationships/image" Target="../media/image116.png"/><Relationship Id="rId39" Type="http://schemas.openxmlformats.org/officeDocument/2006/relationships/image" Target="../media/image129.png"/><Relationship Id="rId21" Type="http://schemas.openxmlformats.org/officeDocument/2006/relationships/image" Target="../media/image111.png"/><Relationship Id="rId34" Type="http://schemas.openxmlformats.org/officeDocument/2006/relationships/image" Target="../media/image124.png"/><Relationship Id="rId42" Type="http://schemas.openxmlformats.org/officeDocument/2006/relationships/image" Target="../media/image79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29" Type="http://schemas.openxmlformats.org/officeDocument/2006/relationships/image" Target="../media/image119.png"/><Relationship Id="rId41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24" Type="http://schemas.openxmlformats.org/officeDocument/2006/relationships/image" Target="../media/image114.png"/><Relationship Id="rId32" Type="http://schemas.openxmlformats.org/officeDocument/2006/relationships/image" Target="../media/image122.png"/><Relationship Id="rId37" Type="http://schemas.openxmlformats.org/officeDocument/2006/relationships/image" Target="../media/image127.png"/><Relationship Id="rId40" Type="http://schemas.openxmlformats.org/officeDocument/2006/relationships/image" Target="../media/image130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23" Type="http://schemas.openxmlformats.org/officeDocument/2006/relationships/image" Target="../media/image113.png"/><Relationship Id="rId28" Type="http://schemas.openxmlformats.org/officeDocument/2006/relationships/image" Target="../media/image118.png"/><Relationship Id="rId36" Type="http://schemas.openxmlformats.org/officeDocument/2006/relationships/image" Target="../media/image126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31" Type="http://schemas.openxmlformats.org/officeDocument/2006/relationships/image" Target="../media/image121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Relationship Id="rId22" Type="http://schemas.openxmlformats.org/officeDocument/2006/relationships/image" Target="../media/image112.png"/><Relationship Id="rId27" Type="http://schemas.openxmlformats.org/officeDocument/2006/relationships/image" Target="../media/image117.png"/><Relationship Id="rId30" Type="http://schemas.openxmlformats.org/officeDocument/2006/relationships/image" Target="../media/image120.png"/><Relationship Id="rId35" Type="http://schemas.openxmlformats.org/officeDocument/2006/relationships/image" Target="../media/image125.png"/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5" Type="http://schemas.openxmlformats.org/officeDocument/2006/relationships/image" Target="../media/image115.png"/><Relationship Id="rId33" Type="http://schemas.openxmlformats.org/officeDocument/2006/relationships/image" Target="../media/image123.png"/><Relationship Id="rId38" Type="http://schemas.openxmlformats.org/officeDocument/2006/relationships/image" Target="../media/image1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7.png"/><Relationship Id="rId18" Type="http://schemas.openxmlformats.org/officeDocument/2006/relationships/image" Target="../media/image26.png"/><Relationship Id="rId26" Type="http://schemas.openxmlformats.org/officeDocument/2006/relationships/image" Target="../media/image15.png"/><Relationship Id="rId39" Type="http://schemas.openxmlformats.org/officeDocument/2006/relationships/image" Target="../media/image168.png"/><Relationship Id="rId21" Type="http://schemas.openxmlformats.org/officeDocument/2006/relationships/image" Target="../media/image153.png"/><Relationship Id="rId34" Type="http://schemas.openxmlformats.org/officeDocument/2006/relationships/image" Target="../media/image163.png"/><Relationship Id="rId42" Type="http://schemas.openxmlformats.org/officeDocument/2006/relationships/image" Target="../media/image170.png"/><Relationship Id="rId47" Type="http://schemas.openxmlformats.org/officeDocument/2006/relationships/image" Target="../media/image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6" Type="http://schemas.openxmlformats.org/officeDocument/2006/relationships/image" Target="../media/image150.png"/><Relationship Id="rId29" Type="http://schemas.openxmlformats.org/officeDocument/2006/relationships/image" Target="../media/image159.png"/><Relationship Id="rId11" Type="http://schemas.openxmlformats.org/officeDocument/2006/relationships/image" Target="../media/image145.png"/><Relationship Id="rId24" Type="http://schemas.openxmlformats.org/officeDocument/2006/relationships/image" Target="../media/image5.png"/><Relationship Id="rId32" Type="http://schemas.openxmlformats.org/officeDocument/2006/relationships/image" Target="../media/image161.png"/><Relationship Id="rId37" Type="http://schemas.openxmlformats.org/officeDocument/2006/relationships/image" Target="../media/image166.png"/><Relationship Id="rId40" Type="http://schemas.openxmlformats.org/officeDocument/2006/relationships/image" Target="../media/image35.png"/><Relationship Id="rId45" Type="http://schemas.openxmlformats.org/officeDocument/2006/relationships/image" Target="../media/image11.png"/><Relationship Id="rId5" Type="http://schemas.openxmlformats.org/officeDocument/2006/relationships/image" Target="../media/image140.png"/><Relationship Id="rId15" Type="http://schemas.openxmlformats.org/officeDocument/2006/relationships/image" Target="../media/image149.png"/><Relationship Id="rId23" Type="http://schemas.openxmlformats.org/officeDocument/2006/relationships/image" Target="../media/image155.png"/><Relationship Id="rId28" Type="http://schemas.openxmlformats.org/officeDocument/2006/relationships/image" Target="../media/image158.png"/><Relationship Id="rId36" Type="http://schemas.openxmlformats.org/officeDocument/2006/relationships/image" Target="../media/image165.png"/><Relationship Id="rId49" Type="http://schemas.openxmlformats.org/officeDocument/2006/relationships/image" Target="../media/image175.png"/><Relationship Id="rId10" Type="http://schemas.openxmlformats.org/officeDocument/2006/relationships/image" Target="../media/image39.png"/><Relationship Id="rId19" Type="http://schemas.openxmlformats.org/officeDocument/2006/relationships/image" Target="../media/image9.png"/><Relationship Id="rId31" Type="http://schemas.openxmlformats.org/officeDocument/2006/relationships/image" Target="../media/image160.png"/><Relationship Id="rId44" Type="http://schemas.openxmlformats.org/officeDocument/2006/relationships/image" Target="../media/image172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Relationship Id="rId14" Type="http://schemas.openxmlformats.org/officeDocument/2006/relationships/image" Target="../media/image148.png"/><Relationship Id="rId22" Type="http://schemas.openxmlformats.org/officeDocument/2006/relationships/image" Target="../media/image154.png"/><Relationship Id="rId27" Type="http://schemas.openxmlformats.org/officeDocument/2006/relationships/image" Target="../media/image157.png"/><Relationship Id="rId30" Type="http://schemas.openxmlformats.org/officeDocument/2006/relationships/image" Target="../media/image27.png"/><Relationship Id="rId35" Type="http://schemas.openxmlformats.org/officeDocument/2006/relationships/image" Target="../media/image164.png"/><Relationship Id="rId43" Type="http://schemas.openxmlformats.org/officeDocument/2006/relationships/image" Target="../media/image171.png"/><Relationship Id="rId48" Type="http://schemas.openxmlformats.org/officeDocument/2006/relationships/image" Target="../media/image174.png"/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56.png"/><Relationship Id="rId33" Type="http://schemas.openxmlformats.org/officeDocument/2006/relationships/image" Target="../media/image162.png"/><Relationship Id="rId38" Type="http://schemas.openxmlformats.org/officeDocument/2006/relationships/image" Target="../media/image167.png"/><Relationship Id="rId46" Type="http://schemas.openxmlformats.org/officeDocument/2006/relationships/image" Target="../media/image173.png"/><Relationship Id="rId20" Type="http://schemas.openxmlformats.org/officeDocument/2006/relationships/image" Target="../media/image152.png"/><Relationship Id="rId41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89.png"/><Relationship Id="rId18" Type="http://schemas.openxmlformats.org/officeDocument/2006/relationships/image" Target="../media/image154.png"/><Relationship Id="rId26" Type="http://schemas.openxmlformats.org/officeDocument/2006/relationships/image" Target="../media/image199.png"/><Relationship Id="rId3" Type="http://schemas.openxmlformats.org/officeDocument/2006/relationships/image" Target="../media/image180.png"/><Relationship Id="rId21" Type="http://schemas.openxmlformats.org/officeDocument/2006/relationships/image" Target="../media/image195.png"/><Relationship Id="rId7" Type="http://schemas.openxmlformats.org/officeDocument/2006/relationships/image" Target="../media/image184.png"/><Relationship Id="rId12" Type="http://schemas.openxmlformats.org/officeDocument/2006/relationships/image" Target="../media/image188.png"/><Relationship Id="rId17" Type="http://schemas.openxmlformats.org/officeDocument/2006/relationships/image" Target="../media/image192.png"/><Relationship Id="rId25" Type="http://schemas.openxmlformats.org/officeDocument/2006/relationships/image" Target="../media/image198.png"/><Relationship Id="rId2" Type="http://schemas.openxmlformats.org/officeDocument/2006/relationships/image" Target="../media/image179.png"/><Relationship Id="rId16" Type="http://schemas.openxmlformats.org/officeDocument/2006/relationships/image" Target="../media/image191.png"/><Relationship Id="rId20" Type="http://schemas.openxmlformats.org/officeDocument/2006/relationships/image" Target="../media/image194.png"/><Relationship Id="rId29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87.png"/><Relationship Id="rId24" Type="http://schemas.openxmlformats.org/officeDocument/2006/relationships/image" Target="../media/image197.png"/><Relationship Id="rId32" Type="http://schemas.openxmlformats.org/officeDocument/2006/relationships/image" Target="../media/image202.png"/><Relationship Id="rId5" Type="http://schemas.openxmlformats.org/officeDocument/2006/relationships/image" Target="../media/image182.png"/><Relationship Id="rId15" Type="http://schemas.openxmlformats.org/officeDocument/2006/relationships/image" Target="../media/image8.png"/><Relationship Id="rId23" Type="http://schemas.openxmlformats.org/officeDocument/2006/relationships/image" Target="../media/image26.png"/><Relationship Id="rId28" Type="http://schemas.openxmlformats.org/officeDocument/2006/relationships/image" Target="../media/image5.png"/><Relationship Id="rId10" Type="http://schemas.openxmlformats.org/officeDocument/2006/relationships/image" Target="../media/image186.png"/><Relationship Id="rId19" Type="http://schemas.openxmlformats.org/officeDocument/2006/relationships/image" Target="../media/image193.png"/><Relationship Id="rId31" Type="http://schemas.openxmlformats.org/officeDocument/2006/relationships/image" Target="../media/image157.png"/><Relationship Id="rId4" Type="http://schemas.openxmlformats.org/officeDocument/2006/relationships/image" Target="../media/image181.png"/><Relationship Id="rId9" Type="http://schemas.openxmlformats.org/officeDocument/2006/relationships/image" Target="../media/image35.png"/><Relationship Id="rId14" Type="http://schemas.openxmlformats.org/officeDocument/2006/relationships/image" Target="../media/image190.png"/><Relationship Id="rId22" Type="http://schemas.openxmlformats.org/officeDocument/2006/relationships/image" Target="../media/image196.png"/><Relationship Id="rId27" Type="http://schemas.openxmlformats.org/officeDocument/2006/relationships/image" Target="../media/image200.png"/><Relationship Id="rId30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2C2B4DD9-960A-4F3F-B913-AA034703A5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5B5AD9-B875-4F5B-9BBB-44D7FF23F86A}" type="slidenum">
              <a:rPr lang="en-US" altLang="en-US"/>
              <a:pPr>
                <a:defRPr/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EEE1BBE-2B53-4419-9EC3-FCE6014A50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295400"/>
            <a:ext cx="7623175" cy="1752600"/>
          </a:xfrm>
        </p:spPr>
        <p:txBody>
          <a:bodyPr/>
          <a:lstStyle/>
          <a:p>
            <a:pPr eaLnBrk="1" hangingPunct="1"/>
            <a:r>
              <a:rPr lang="en-US" altLang="en-US" sz="4700"/>
              <a:t>Computer Communication &amp; Networks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962CD8CA-9D41-4FE4-9C62-74E3FAD3AF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-18854" y="3397360"/>
            <a:ext cx="9296400" cy="1752600"/>
          </a:xfrm>
        </p:spPr>
        <p:txBody>
          <a:bodyPr/>
          <a:lstStyle/>
          <a:p>
            <a:pPr algn="ctr" eaLnBrk="1" hangingPunct="1"/>
            <a:r>
              <a:rPr lang="en-US" altLang="en-US" sz="3600" dirty="0"/>
              <a:t>Week 4</a:t>
            </a:r>
          </a:p>
          <a:p>
            <a:pPr algn="ctr" eaLnBrk="1" hangingPunct="1"/>
            <a:r>
              <a:rPr lang="en-US" altLang="en-US" sz="3600" dirty="0">
                <a:solidFill>
                  <a:schemeClr val="accent2"/>
                </a:solidFill>
              </a:rPr>
              <a:t>Datalink Layer: Datalink control and protocols</a:t>
            </a:r>
          </a:p>
          <a:p>
            <a:pPr eaLnBrk="1" hangingPunct="1"/>
            <a:r>
              <a:rPr lang="en-US" altLang="en-US" sz="1400" dirty="0">
                <a:hlinkClick r:id="rId3"/>
              </a:rPr>
              <a:t>                 GitHub - AhmadNawaz110/CE313-Computer-Commincation-and-Network-Spring-2026-</a:t>
            </a:r>
            <a:endParaRPr lang="en-US" altLang="en-US" sz="1400" dirty="0">
              <a:solidFill>
                <a:schemeClr val="accent2"/>
              </a:solidFill>
            </a:endParaRPr>
          </a:p>
        </p:txBody>
      </p:sp>
      <p:sp>
        <p:nvSpPr>
          <p:cNvPr id="795652" name="Rectangle 4">
            <a:extLst>
              <a:ext uri="{FF2B5EF4-FFF2-40B4-BE49-F238E27FC236}">
                <a16:creationId xmlns:a16="http://schemas.microsoft.com/office/drawing/2014/main" id="{19D93AEA-B95D-45F0-9C5B-F7D07E79B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71500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4488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671513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023938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341438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17986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2558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27130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170238" indent="-3397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b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0"/>
              <a:t>Engr. M Ahmad Nawaz</a:t>
            </a: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000" b="0">
                <a:hlinkClick r:id="rId4"/>
              </a:rPr>
              <a:t>Engr.ahmad.nawaz@giki.edu.pk</a:t>
            </a:r>
            <a:endParaRPr lang="en-US" altLang="en-US" sz="2000" b="0"/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56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6772" y="363248"/>
            <a:ext cx="4457700" cy="4122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02692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"/>
                <a:cs typeface="Arial"/>
              </a:rPr>
              <a:t>IEEE </a:t>
            </a:r>
            <a:r>
              <a:rPr b="1" spc="-10" dirty="0">
                <a:latin typeface="Arial"/>
                <a:cs typeface="Arial"/>
              </a:rPr>
              <a:t>STANDARDS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555" y="1514855"/>
            <a:ext cx="8242300" cy="4075429"/>
            <a:chOff x="638555" y="1514855"/>
            <a:chExt cx="8242300" cy="40754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6591" y="1747491"/>
              <a:ext cx="310895" cy="3284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7279" y="1514855"/>
              <a:ext cx="1441704" cy="6614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9488" y="1514855"/>
              <a:ext cx="652272" cy="6614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32659" y="1514855"/>
              <a:ext cx="1103376" cy="6614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6935" y="1514855"/>
              <a:ext cx="2322576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18888" y="1514855"/>
              <a:ext cx="1872995" cy="6614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71259" y="1514855"/>
              <a:ext cx="877824" cy="661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9984" y="1514855"/>
              <a:ext cx="1103376" cy="6614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14260" y="1514855"/>
              <a:ext cx="1466088" cy="6614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555" y="2002536"/>
              <a:ext cx="1780032" cy="661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08631" y="2002536"/>
              <a:ext cx="765048" cy="6614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65248" y="2002536"/>
              <a:ext cx="1869948" cy="6614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26763" y="2002536"/>
              <a:ext cx="1600200" cy="661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17008" y="2002536"/>
              <a:ext cx="1804415" cy="6614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11467" y="2002536"/>
              <a:ext cx="1216152" cy="6614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88123" y="2002536"/>
              <a:ext cx="652272" cy="6614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31963" y="2002536"/>
              <a:ext cx="877824" cy="6614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99832" y="2002536"/>
              <a:ext cx="1080516" cy="6614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8555" y="2490216"/>
              <a:ext cx="2321052" cy="6614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02051" y="2490216"/>
              <a:ext cx="877824" cy="66141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22320" y="2490216"/>
              <a:ext cx="1757172" cy="6614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821935" y="2490216"/>
              <a:ext cx="4058412" cy="6614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8555" y="2977895"/>
              <a:ext cx="1780032" cy="6614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78379" y="2977895"/>
              <a:ext cx="2433827" cy="6614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572000" y="2977895"/>
              <a:ext cx="1350264" cy="6614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2055" y="2977895"/>
              <a:ext cx="765048" cy="66141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06896" y="2977895"/>
              <a:ext cx="1735836" cy="6614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2524" y="2977895"/>
              <a:ext cx="877824" cy="6614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8555" y="3465576"/>
              <a:ext cx="3133344" cy="6614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32404" y="3465576"/>
              <a:ext cx="652271" cy="66141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90544" y="3465576"/>
              <a:ext cx="1804416" cy="66141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00827" y="3465576"/>
              <a:ext cx="1216152" cy="6614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24371" y="3465576"/>
              <a:ext cx="833627" cy="6614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63867" y="3465576"/>
              <a:ext cx="765048" cy="6614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036308" y="3465576"/>
              <a:ext cx="1261872" cy="6614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04048" y="3465576"/>
              <a:ext cx="876300" cy="6614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8555" y="3953255"/>
              <a:ext cx="2345436" cy="6614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650235" y="3953255"/>
              <a:ext cx="2162556" cy="66141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79035" y="3953255"/>
              <a:ext cx="877824" cy="6614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1579" y="3953255"/>
              <a:ext cx="1103376" cy="66141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91200" y="3953255"/>
              <a:ext cx="2007107" cy="66141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64551" y="3953255"/>
              <a:ext cx="1415796" cy="66141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8555" y="4440935"/>
              <a:ext cx="1216152" cy="66141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06295" y="4440935"/>
              <a:ext cx="1103376" cy="66141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461260" y="4440935"/>
              <a:ext cx="1328927" cy="66141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541776" y="4440935"/>
              <a:ext cx="1150620" cy="66141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443984" y="4440935"/>
              <a:ext cx="1418843" cy="66141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4415" y="4440935"/>
              <a:ext cx="877824" cy="66141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243827" y="4440935"/>
              <a:ext cx="1554479" cy="66141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549896" y="4440935"/>
              <a:ext cx="1330452" cy="66141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38555" y="4928615"/>
              <a:ext cx="2188464" cy="66141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287523" y="4928615"/>
              <a:ext cx="652272" cy="661416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879144" y="1621282"/>
            <a:ext cx="7731759" cy="3928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In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1985,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Computer</a:t>
            </a:r>
            <a:r>
              <a:rPr sz="3200" spc="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Society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30" dirty="0">
                <a:latin typeface="Arial MT"/>
                <a:cs typeface="Arial MT"/>
              </a:rPr>
              <a:t> </a:t>
            </a:r>
            <a:r>
              <a:rPr sz="3200" spc="-20" dirty="0">
                <a:latin typeface="Arial MT"/>
                <a:cs typeface="Arial MT"/>
              </a:rPr>
              <a:t>IEEE </a:t>
            </a:r>
            <a:r>
              <a:rPr sz="3200" dirty="0">
                <a:latin typeface="Arial MT"/>
                <a:cs typeface="Arial MT"/>
              </a:rPr>
              <a:t>started</a:t>
            </a:r>
            <a:r>
              <a:rPr sz="3200" spc="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10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project,</a:t>
            </a:r>
            <a:r>
              <a:rPr sz="3200" spc="10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called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802,</a:t>
            </a:r>
            <a:r>
              <a:rPr sz="3200" spc="1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95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set </a:t>
            </a:r>
            <a:r>
              <a:rPr sz="3200" dirty="0">
                <a:latin typeface="Arial MT"/>
                <a:cs typeface="Arial MT"/>
              </a:rPr>
              <a:t>standards</a:t>
            </a:r>
            <a:r>
              <a:rPr sz="3200" spc="19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20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enable</a:t>
            </a:r>
            <a:r>
              <a:rPr sz="3200" spc="195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intercommunication </a:t>
            </a:r>
            <a:r>
              <a:rPr sz="3200" dirty="0">
                <a:latin typeface="Arial MT"/>
                <a:cs typeface="Arial MT"/>
              </a:rPr>
              <a:t>among</a:t>
            </a:r>
            <a:r>
              <a:rPr sz="3200" spc="65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equipment</a:t>
            </a:r>
            <a:r>
              <a:rPr sz="3200" spc="66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from</a:t>
            </a:r>
            <a:r>
              <a:rPr sz="3200" spc="66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66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variety</a:t>
            </a:r>
            <a:r>
              <a:rPr sz="3200" spc="670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dirty="0">
                <a:latin typeface="Arial MT"/>
                <a:cs typeface="Arial MT"/>
              </a:rPr>
              <a:t>manufacturers.</a:t>
            </a:r>
            <a:r>
              <a:rPr sz="3200" spc="5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6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802</a:t>
            </a:r>
            <a:r>
              <a:rPr sz="3200" spc="6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is</a:t>
            </a:r>
            <a:r>
              <a:rPr sz="3200" spc="6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6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way</a:t>
            </a:r>
            <a:r>
              <a:rPr sz="3200" spc="65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of </a:t>
            </a:r>
            <a:r>
              <a:rPr sz="3200" dirty="0">
                <a:latin typeface="Arial MT"/>
                <a:cs typeface="Arial MT"/>
              </a:rPr>
              <a:t>specifying</a:t>
            </a:r>
            <a:r>
              <a:rPr sz="3200" spc="67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functions</a:t>
            </a:r>
            <a:r>
              <a:rPr sz="3200" spc="6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6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6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physical</a:t>
            </a:r>
            <a:r>
              <a:rPr sz="3200" spc="6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layer </a:t>
            </a:r>
            <a:r>
              <a:rPr sz="3200" dirty="0">
                <a:latin typeface="Arial MT"/>
                <a:cs typeface="Arial MT"/>
              </a:rPr>
              <a:t>and</a:t>
            </a:r>
            <a:r>
              <a:rPr sz="3200" spc="24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24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data</a:t>
            </a:r>
            <a:r>
              <a:rPr sz="3200" spc="2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link</a:t>
            </a:r>
            <a:r>
              <a:rPr sz="3200" spc="25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layer</a:t>
            </a:r>
            <a:r>
              <a:rPr sz="3200" spc="2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2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major</a:t>
            </a:r>
            <a:r>
              <a:rPr sz="3200" spc="245" dirty="0">
                <a:latin typeface="Arial MT"/>
                <a:cs typeface="Arial MT"/>
              </a:rPr>
              <a:t>  </a:t>
            </a:r>
            <a:r>
              <a:rPr sz="3200" spc="-25" dirty="0">
                <a:latin typeface="Arial MT"/>
                <a:cs typeface="Arial MT"/>
              </a:rPr>
              <a:t>LAN </a:t>
            </a:r>
            <a:r>
              <a:rPr sz="3200" spc="-10" dirty="0">
                <a:latin typeface="Arial MT"/>
                <a:cs typeface="Arial MT"/>
              </a:rPr>
              <a:t>protocols.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569085">
              <a:lnSpc>
                <a:spcPct val="100000"/>
              </a:lnSpc>
              <a:spcBef>
                <a:spcPts val="95"/>
              </a:spcBef>
            </a:pPr>
            <a:r>
              <a:rPr dirty="0"/>
              <a:t>IEEE</a:t>
            </a:r>
            <a:r>
              <a:rPr spc="-105" dirty="0"/>
              <a:t> </a:t>
            </a:r>
            <a:r>
              <a:rPr dirty="0"/>
              <a:t>standard</a:t>
            </a:r>
            <a:r>
              <a:rPr spc="-6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20" dirty="0"/>
              <a:t>LANs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812" y="1774930"/>
            <a:ext cx="8866124" cy="4131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663" rIns="0" bIns="0" rtlCol="0">
            <a:spAutoFit/>
          </a:bodyPr>
          <a:lstStyle/>
          <a:p>
            <a:pPr marL="2994025" marR="5080" indent="-247713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HDLC</a:t>
            </a:r>
            <a:r>
              <a:rPr sz="3600" spc="-40" dirty="0"/>
              <a:t> </a:t>
            </a:r>
            <a:r>
              <a:rPr sz="3600" dirty="0"/>
              <a:t>frame</a:t>
            </a:r>
            <a:r>
              <a:rPr sz="3600" spc="-5" dirty="0"/>
              <a:t> </a:t>
            </a:r>
            <a:r>
              <a:rPr sz="3600" dirty="0"/>
              <a:t>compared</a:t>
            </a:r>
            <a:r>
              <a:rPr sz="3600" spc="-15" dirty="0"/>
              <a:t> </a:t>
            </a:r>
            <a:r>
              <a:rPr sz="3600" dirty="0"/>
              <a:t>with</a:t>
            </a:r>
            <a:r>
              <a:rPr sz="3600" spc="-20" dirty="0"/>
              <a:t> </a:t>
            </a:r>
            <a:r>
              <a:rPr sz="3600" dirty="0"/>
              <a:t>LLC</a:t>
            </a:r>
            <a:r>
              <a:rPr sz="3600" spc="-15" dirty="0"/>
              <a:t> </a:t>
            </a:r>
            <a:r>
              <a:rPr sz="3600" spc="-25" dirty="0"/>
              <a:t>and </a:t>
            </a:r>
            <a:r>
              <a:rPr sz="3600" dirty="0"/>
              <a:t>MAC</a:t>
            </a:r>
            <a:r>
              <a:rPr sz="3600" spc="-10" dirty="0"/>
              <a:t> frames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812" y="2618714"/>
            <a:ext cx="8866124" cy="24173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1783" y="646704"/>
            <a:ext cx="6315300" cy="4579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007" rIns="0" bIns="0" rtlCol="0">
            <a:spAutoFit/>
          </a:bodyPr>
          <a:lstStyle/>
          <a:p>
            <a:pPr marL="1113790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STANDARD</a:t>
            </a:r>
            <a:r>
              <a:rPr sz="4400" b="1" spc="-6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ETHERNET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6259" y="1668220"/>
            <a:ext cx="7911465" cy="2076450"/>
            <a:chOff x="556259" y="1668220"/>
            <a:chExt cx="7911465" cy="20764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9086" y="1668220"/>
              <a:ext cx="561522" cy="282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1280" y="1668220"/>
              <a:ext cx="1116642" cy="3556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4575" y="1668220"/>
              <a:ext cx="1226408" cy="2827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93360" y="1750302"/>
              <a:ext cx="570653" cy="2006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05983" y="1668220"/>
              <a:ext cx="1042415" cy="2827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79577" y="1668220"/>
              <a:ext cx="292016" cy="2781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39356" y="1672780"/>
              <a:ext cx="690372" cy="2781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70034" y="1704701"/>
              <a:ext cx="273748" cy="24624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259" y="1880616"/>
              <a:ext cx="1601724" cy="5836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3559" y="1880616"/>
              <a:ext cx="1107948" cy="5836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77083" y="1880616"/>
              <a:ext cx="1107947" cy="5836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39083" y="1880616"/>
              <a:ext cx="1775460" cy="5836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70119" y="1880616"/>
              <a:ext cx="1421891" cy="5836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47588" y="1880616"/>
              <a:ext cx="1609343" cy="5836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981444" y="1880616"/>
              <a:ext cx="563879" cy="5836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00900" y="1880616"/>
              <a:ext cx="1266444" cy="5836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56259" y="2307336"/>
              <a:ext cx="1176528" cy="5836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69135" y="2307336"/>
              <a:ext cx="673607" cy="5836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79092" y="2307336"/>
              <a:ext cx="947928" cy="5836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63367" y="2307336"/>
              <a:ext cx="1167383" cy="5836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67099" y="2307336"/>
              <a:ext cx="1581912" cy="5836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85359" y="2307336"/>
              <a:ext cx="1068324" cy="5836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90031" y="2307336"/>
              <a:ext cx="2113788" cy="5836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28331" y="2307336"/>
              <a:ext cx="563879" cy="5836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28559" y="2307336"/>
              <a:ext cx="938783" cy="5836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6259" y="2734056"/>
              <a:ext cx="1424940" cy="58369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00199" y="2734056"/>
              <a:ext cx="1501139" cy="58369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20339" y="2734056"/>
              <a:ext cx="908303" cy="58369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247643" y="2734056"/>
              <a:ext cx="1738883" cy="5836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05527" y="2734056"/>
              <a:ext cx="890015" cy="5836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14544" y="2734056"/>
              <a:ext cx="2052827" cy="5836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786371" y="2734056"/>
              <a:ext cx="1680972" cy="58369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6259" y="3160776"/>
              <a:ext cx="752856" cy="58369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0495" y="3160776"/>
              <a:ext cx="990600" cy="58369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20951" y="3160776"/>
              <a:ext cx="1482852" cy="5836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28315" y="3160776"/>
              <a:ext cx="563880" cy="583692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1162811" y="4111180"/>
            <a:ext cx="4724400" cy="379095"/>
            <a:chOff x="1162811" y="4111180"/>
            <a:chExt cx="4724400" cy="379095"/>
          </a:xfrm>
        </p:grpSpPr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05483" y="4111180"/>
              <a:ext cx="4631436" cy="35112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62811" y="4376927"/>
              <a:ext cx="4724400" cy="112775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764844" y="1546352"/>
            <a:ext cx="7463155" cy="3806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original</a:t>
            </a:r>
            <a:r>
              <a:rPr sz="2800" spc="2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Ethernet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was</a:t>
            </a:r>
            <a:r>
              <a:rPr sz="2800" spc="2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created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2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1976</a:t>
            </a:r>
            <a:r>
              <a:rPr sz="2800" spc="270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at </a:t>
            </a:r>
            <a:r>
              <a:rPr sz="2800" dirty="0">
                <a:latin typeface="Times New Roman"/>
                <a:cs typeface="Times New Roman"/>
              </a:rPr>
              <a:t>Xerox’s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Palo</a:t>
            </a:r>
            <a:r>
              <a:rPr sz="2800" spc="2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Alto</a:t>
            </a:r>
            <a:r>
              <a:rPr sz="2800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Research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Center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(PARC).</a:t>
            </a:r>
            <a:r>
              <a:rPr sz="2800" spc="2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Since </a:t>
            </a:r>
            <a:r>
              <a:rPr sz="2800" dirty="0">
                <a:latin typeface="Times New Roman"/>
                <a:cs typeface="Times New Roman"/>
              </a:rPr>
              <a:t>then,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gone</a:t>
            </a:r>
            <a:r>
              <a:rPr sz="2800" spc="11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through</a:t>
            </a:r>
            <a:r>
              <a:rPr sz="2800" spc="12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four</a:t>
            </a:r>
            <a:r>
              <a:rPr sz="2800" spc="12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generations.</a:t>
            </a:r>
            <a:r>
              <a:rPr sz="2800" spc="114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We </a:t>
            </a:r>
            <a:r>
              <a:rPr sz="2800" dirty="0">
                <a:latin typeface="Times New Roman"/>
                <a:cs typeface="Times New Roman"/>
              </a:rPr>
              <a:t>briefly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discuss 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9999"/>
                </a:solidFill>
                <a:latin typeface="Times New Roman"/>
                <a:cs typeface="Times New Roman"/>
              </a:rPr>
              <a:t>Standard (or</a:t>
            </a:r>
            <a:r>
              <a:rPr sz="2800" spc="-2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9999"/>
                </a:solidFill>
                <a:latin typeface="Times New Roman"/>
                <a:cs typeface="Times New Roman"/>
              </a:rPr>
              <a:t>traditional) </a:t>
            </a:r>
            <a:r>
              <a:rPr sz="2800" spc="-10" dirty="0">
                <a:solidFill>
                  <a:srgbClr val="009999"/>
                </a:solidFill>
                <a:latin typeface="Times New Roman"/>
                <a:cs typeface="Times New Roman"/>
              </a:rPr>
              <a:t>Ethernet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section.</a:t>
            </a:r>
            <a:endParaRPr sz="28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  <a:spcBef>
                <a:spcPts val="2395"/>
              </a:spcBef>
            </a:pPr>
            <a:r>
              <a:rPr sz="2800" b="1" i="1" u="sng" spc="-3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sng" spc="-7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sng" spc="-6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sng" spc="-4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sng" spc="-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  <a:p>
            <a:pPr marL="697865" marR="4784725">
              <a:lnSpc>
                <a:spcPct val="100000"/>
              </a:lnSpc>
              <a:spcBef>
                <a:spcPts val="1455"/>
              </a:spcBef>
            </a:pP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MAC</a:t>
            </a:r>
            <a:r>
              <a:rPr sz="2400" b="1" spc="-7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Sublayer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Physical</a:t>
            </a:r>
            <a:r>
              <a:rPr sz="24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Layer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7510" marR="5080" indent="-2161540">
              <a:lnSpc>
                <a:spcPct val="100000"/>
              </a:lnSpc>
              <a:spcBef>
                <a:spcPts val="95"/>
              </a:spcBef>
            </a:pPr>
            <a:r>
              <a:rPr dirty="0"/>
              <a:t>Ethernet</a:t>
            </a:r>
            <a:r>
              <a:rPr spc="-150" dirty="0"/>
              <a:t> </a:t>
            </a:r>
            <a:r>
              <a:rPr dirty="0"/>
              <a:t>evolution</a:t>
            </a:r>
            <a:r>
              <a:rPr spc="-150" dirty="0"/>
              <a:t> </a:t>
            </a:r>
            <a:r>
              <a:rPr dirty="0"/>
              <a:t>through</a:t>
            </a:r>
            <a:r>
              <a:rPr spc="-140" dirty="0"/>
              <a:t> </a:t>
            </a:r>
            <a:r>
              <a:rPr spc="-20" dirty="0"/>
              <a:t>four </a:t>
            </a:r>
            <a:r>
              <a:rPr spc="-10" dirty="0"/>
              <a:t>generations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2285873"/>
            <a:ext cx="7394575" cy="23444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275205">
              <a:lnSpc>
                <a:spcPct val="100000"/>
              </a:lnSpc>
              <a:spcBef>
                <a:spcPts val="95"/>
              </a:spcBef>
            </a:pPr>
            <a:r>
              <a:rPr dirty="0"/>
              <a:t>802.3</a:t>
            </a:r>
            <a:r>
              <a:rPr spc="-105" dirty="0"/>
              <a:t> </a:t>
            </a:r>
            <a:r>
              <a:rPr dirty="0"/>
              <a:t>MAC</a:t>
            </a:r>
            <a:r>
              <a:rPr spc="-100" dirty="0"/>
              <a:t> </a:t>
            </a:r>
            <a:r>
              <a:rPr spc="-10" dirty="0"/>
              <a:t>frame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2311929"/>
            <a:ext cx="8821674" cy="250141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677545">
              <a:lnSpc>
                <a:spcPct val="100000"/>
              </a:lnSpc>
              <a:spcBef>
                <a:spcPts val="95"/>
              </a:spcBef>
            </a:pPr>
            <a:r>
              <a:rPr dirty="0"/>
              <a:t>Minimum</a:t>
            </a:r>
            <a:r>
              <a:rPr spc="-110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dirty="0"/>
              <a:t>maximum</a:t>
            </a:r>
            <a:r>
              <a:rPr spc="-105" dirty="0"/>
              <a:t> </a:t>
            </a:r>
            <a:r>
              <a:rPr spc="-10" dirty="0"/>
              <a:t>lengths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2462452"/>
            <a:ext cx="8574151" cy="26416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759075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1265555" marR="1256665" indent="1429385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solidFill>
                  <a:srgbClr val="009999"/>
                </a:solidFill>
                <a:latin typeface="Arial"/>
                <a:cs typeface="Arial"/>
              </a:rPr>
              <a:t>Frame</a:t>
            </a:r>
            <a:r>
              <a:rPr sz="3200" b="1" spc="-30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009999"/>
                </a:solidFill>
                <a:latin typeface="Arial"/>
                <a:cs typeface="Arial"/>
              </a:rPr>
              <a:t>length: </a:t>
            </a:r>
            <a:r>
              <a:rPr sz="3200" b="1" dirty="0">
                <a:latin typeface="Arial"/>
                <a:cs typeface="Arial"/>
              </a:rPr>
              <a:t>Minimum: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64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bytes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(512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bits)</a:t>
            </a:r>
            <a:endParaRPr sz="3200">
              <a:latin typeface="Arial"/>
              <a:cs typeface="Arial"/>
            </a:endParaRPr>
          </a:p>
          <a:p>
            <a:pPr marL="712470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Maximum: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1518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bytes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(12,144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bits)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20" dirty="0">
                <a:solidFill>
                  <a:srgbClr val="009999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1690" marR="5080" indent="-2795905">
              <a:lnSpc>
                <a:spcPct val="100000"/>
              </a:lnSpc>
              <a:spcBef>
                <a:spcPts val="95"/>
              </a:spcBef>
            </a:pPr>
            <a:r>
              <a:rPr dirty="0"/>
              <a:t>Ethernet</a:t>
            </a:r>
            <a:r>
              <a:rPr spc="-100" dirty="0"/>
              <a:t> </a:t>
            </a:r>
            <a:r>
              <a:rPr dirty="0"/>
              <a:t>address</a:t>
            </a:r>
            <a:r>
              <a:rPr spc="-85" dirty="0"/>
              <a:t> </a:t>
            </a:r>
            <a:r>
              <a:rPr dirty="0"/>
              <a:t>in</a:t>
            </a:r>
            <a:r>
              <a:rPr spc="-105" dirty="0"/>
              <a:t> </a:t>
            </a:r>
            <a:r>
              <a:rPr spc="-10" dirty="0"/>
              <a:t>hexadecimal notation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2448" y="2769275"/>
            <a:ext cx="6032481" cy="1385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608965">
              <a:lnSpc>
                <a:spcPct val="100000"/>
              </a:lnSpc>
              <a:spcBef>
                <a:spcPts val="95"/>
              </a:spcBef>
            </a:pPr>
            <a:r>
              <a:rPr dirty="0"/>
              <a:t>Unicast</a:t>
            </a:r>
            <a:r>
              <a:rPr spc="-105" dirty="0"/>
              <a:t> </a:t>
            </a:r>
            <a:r>
              <a:rPr dirty="0"/>
              <a:t>and</a:t>
            </a:r>
            <a:r>
              <a:rPr spc="-120" dirty="0"/>
              <a:t> </a:t>
            </a:r>
            <a:r>
              <a:rPr dirty="0"/>
              <a:t>multicast</a:t>
            </a:r>
            <a:r>
              <a:rPr spc="-110" dirty="0"/>
              <a:t> </a:t>
            </a:r>
            <a:r>
              <a:rPr spc="-10" dirty="0"/>
              <a:t>addresses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921649"/>
            <a:ext cx="7277100" cy="111361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264160" marR="244475" algn="ctr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least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significant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bit 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first </a:t>
            </a:r>
            <a:r>
              <a:rPr sz="3200" b="1" spc="-20" dirty="0">
                <a:latin typeface="Arial"/>
                <a:cs typeface="Arial"/>
              </a:rPr>
              <a:t>byte </a:t>
            </a:r>
            <a:r>
              <a:rPr sz="3200" b="1" dirty="0">
                <a:latin typeface="Arial"/>
                <a:cs typeface="Arial"/>
              </a:rPr>
              <a:t>defines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type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0" dirty="0">
                <a:latin typeface="Arial"/>
                <a:cs typeface="Arial"/>
              </a:rPr>
              <a:t> address.</a:t>
            </a:r>
            <a:endParaRPr sz="3200">
              <a:latin typeface="Arial"/>
              <a:cs typeface="Arial"/>
            </a:endParaRPr>
          </a:p>
          <a:p>
            <a:pPr marL="544830" marR="529590" algn="ctr">
              <a:lnSpc>
                <a:spcPct val="100000"/>
              </a:lnSpc>
              <a:spcBef>
                <a:spcPts val="5"/>
              </a:spcBef>
            </a:pPr>
            <a:r>
              <a:rPr sz="3200" b="1" dirty="0">
                <a:latin typeface="Arial"/>
                <a:cs typeface="Arial"/>
              </a:rPr>
              <a:t>If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bit is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009999"/>
                </a:solidFill>
                <a:latin typeface="Arial"/>
                <a:cs typeface="Arial"/>
              </a:rPr>
              <a:t>0</a:t>
            </a:r>
            <a:r>
              <a:rPr sz="3200" b="1" dirty="0">
                <a:latin typeface="Arial"/>
                <a:cs typeface="Arial"/>
              </a:rPr>
              <a:t>,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address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 </a:t>
            </a:r>
            <a:r>
              <a:rPr sz="3200" b="1" spc="-10" dirty="0">
                <a:latin typeface="Arial"/>
                <a:cs typeface="Arial"/>
              </a:rPr>
              <a:t>unicast; </a:t>
            </a:r>
            <a:r>
              <a:rPr sz="3200" b="1" dirty="0">
                <a:latin typeface="Arial"/>
                <a:cs typeface="Arial"/>
              </a:rPr>
              <a:t>otherwise,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it is</a:t>
            </a:r>
            <a:r>
              <a:rPr sz="3200" b="1" spc="-10" dirty="0">
                <a:latin typeface="Arial"/>
                <a:cs typeface="Arial"/>
              </a:rPr>
              <a:t> multicast.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981136"/>
            <a:ext cx="1143000" cy="5667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9442" y="2002358"/>
            <a:ext cx="716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20" dirty="0">
                <a:solidFill>
                  <a:srgbClr val="009999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2743200"/>
            <a:ext cx="8077200" cy="1554480"/>
          </a:xfrm>
          <a:prstGeom prst="rect">
            <a:avLst/>
          </a:prstGeom>
          <a:solidFill>
            <a:srgbClr val="99FF33"/>
          </a:solidFill>
        </p:spPr>
        <p:txBody>
          <a:bodyPr vert="horz" wrap="square" lIns="0" tIns="34290" rIns="0" bIns="0" rtlCol="0">
            <a:spAutoFit/>
          </a:bodyPr>
          <a:lstStyle/>
          <a:p>
            <a:pPr marL="218440" marR="208915" indent="-635" algn="ctr">
              <a:lnSpc>
                <a:spcPct val="100000"/>
              </a:lnSpc>
              <a:spcBef>
                <a:spcPts val="270"/>
              </a:spcBef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5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broadcast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destination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address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spc="-50" dirty="0">
                <a:latin typeface="Arial"/>
                <a:cs typeface="Arial"/>
              </a:rPr>
              <a:t>a </a:t>
            </a:r>
            <a:r>
              <a:rPr sz="3200" b="1" dirty="0">
                <a:latin typeface="Arial"/>
                <a:cs typeface="Arial"/>
              </a:rPr>
              <a:t>special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case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multicast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address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in </a:t>
            </a:r>
            <a:r>
              <a:rPr sz="3200" b="1" dirty="0">
                <a:latin typeface="Arial"/>
                <a:cs typeface="Arial"/>
              </a:rPr>
              <a:t>which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all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bits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are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25" dirty="0">
                <a:latin typeface="Arial"/>
                <a:cs typeface="Arial"/>
              </a:rPr>
              <a:t>1s.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965388"/>
            <a:ext cx="1143000" cy="56673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7542" y="1986533"/>
            <a:ext cx="715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20" dirty="0">
                <a:solidFill>
                  <a:srgbClr val="009999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331"/>
            <a:ext cx="8186420" cy="1463040"/>
          </a:xfrm>
          <a:prstGeom prst="rect">
            <a:avLst/>
          </a:prstGeom>
        </p:spPr>
        <p:txBody>
          <a:bodyPr vert="horz" wrap="square" lIns="0" tIns="220979" rIns="0" bIns="0" rtlCol="0">
            <a:spAutoFit/>
          </a:bodyPr>
          <a:lstStyle/>
          <a:p>
            <a:pPr marL="344170" algn="ctr">
              <a:lnSpc>
                <a:spcPct val="100000"/>
              </a:lnSpc>
              <a:spcBef>
                <a:spcPts val="1739"/>
              </a:spcBef>
            </a:pPr>
            <a:r>
              <a:rPr sz="4400" spc="-10" dirty="0"/>
              <a:t>Example</a:t>
            </a:r>
            <a:endParaRPr sz="4400"/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800" b="1" dirty="0">
                <a:latin typeface="Times New Roman"/>
                <a:cs typeface="Times New Roman"/>
              </a:rPr>
              <a:t>Define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type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of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the</a:t>
            </a:r>
            <a:r>
              <a:rPr sz="2800" b="1" spc="-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following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destination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addresses: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8290" y="1489766"/>
          <a:ext cx="8141967" cy="819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9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8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73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050"/>
                        </a:lnSpc>
                      </a:pPr>
                      <a:r>
                        <a:rPr sz="2800" b="1" spc="-25" dirty="0">
                          <a:solidFill>
                            <a:srgbClr val="00999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305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4A:30:10:21:10:1A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809">
                        <a:lnSpc>
                          <a:spcPts val="3050"/>
                        </a:lnSpc>
                      </a:pPr>
                      <a:r>
                        <a:rPr sz="2800" b="1" spc="-25" dirty="0">
                          <a:solidFill>
                            <a:srgbClr val="009999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47:20:1B:2E:08:EE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31750">
                        <a:lnSpc>
                          <a:spcPts val="3130"/>
                        </a:lnSpc>
                      </a:pPr>
                      <a:r>
                        <a:rPr sz="2800" b="1" spc="-25" dirty="0">
                          <a:solidFill>
                            <a:srgbClr val="009999"/>
                          </a:solidFill>
                          <a:latin typeface="Times New Roman"/>
                          <a:cs typeface="Times New Roman"/>
                        </a:rPr>
                        <a:t>c.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313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FF:FF:FF:FF:FF:FF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07340" y="2459862"/>
            <a:ext cx="8532495" cy="38658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9999"/>
                </a:solidFill>
                <a:latin typeface="Times New Roman"/>
                <a:cs typeface="Times New Roman"/>
              </a:rPr>
              <a:t>Solution</a:t>
            </a:r>
            <a:endParaRPr sz="28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find</a:t>
            </a:r>
            <a:r>
              <a:rPr sz="2800" spc="5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type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address,</a:t>
            </a:r>
            <a:r>
              <a:rPr sz="2800" spc="5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5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need</a:t>
            </a:r>
            <a:r>
              <a:rPr sz="2800" spc="5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look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at</a:t>
            </a:r>
            <a:r>
              <a:rPr sz="2800" spc="5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second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hexadecimal</a:t>
            </a:r>
            <a:r>
              <a:rPr sz="2800" spc="4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4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left.</a:t>
            </a:r>
            <a:r>
              <a:rPr sz="2800" spc="4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4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even,</a:t>
            </a:r>
            <a:r>
              <a:rPr sz="2800" spc="484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unicast.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odd, the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multicast.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all </a:t>
            </a:r>
            <a:r>
              <a:rPr sz="2800" dirty="0">
                <a:latin typeface="Times New Roman"/>
                <a:cs typeface="Times New Roman"/>
              </a:rPr>
              <a:t>digits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F’s,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broadcast.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Therefore,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have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following:</a:t>
            </a:r>
            <a:endParaRPr sz="2800">
              <a:latin typeface="Times New Roman"/>
              <a:cs typeface="Times New Roman"/>
            </a:endParaRPr>
          </a:p>
          <a:p>
            <a:pPr marL="428625" indent="-415925">
              <a:lnSpc>
                <a:spcPct val="100000"/>
              </a:lnSpc>
              <a:spcBef>
                <a:spcPts val="5"/>
              </a:spcBef>
              <a:buClr>
                <a:srgbClr val="009999"/>
              </a:buClr>
              <a:buAutoNum type="alphaLcPeriod"/>
              <a:tabLst>
                <a:tab pos="428625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unicast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because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1010.</a:t>
            </a:r>
            <a:endParaRPr sz="2800">
              <a:latin typeface="Times New Roman"/>
              <a:cs typeface="Times New Roman"/>
            </a:endParaRPr>
          </a:p>
          <a:p>
            <a:pPr marL="448309" indent="-435609">
              <a:lnSpc>
                <a:spcPct val="100000"/>
              </a:lnSpc>
              <a:buClr>
                <a:srgbClr val="009999"/>
              </a:buClr>
              <a:buAutoNum type="alphaLcPeriod"/>
              <a:tabLst>
                <a:tab pos="448309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multicast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7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binary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0111.</a:t>
            </a:r>
            <a:endParaRPr sz="2800">
              <a:latin typeface="Times New Roman"/>
              <a:cs typeface="Times New Roman"/>
            </a:endParaRPr>
          </a:p>
          <a:p>
            <a:pPr marL="428625" indent="-415925">
              <a:lnSpc>
                <a:spcPct val="100000"/>
              </a:lnSpc>
              <a:buClr>
                <a:srgbClr val="009999"/>
              </a:buClr>
              <a:buAutoNum type="alphaLcPeriod"/>
              <a:tabLst>
                <a:tab pos="428625" algn="l"/>
              </a:tabLst>
            </a:pPr>
            <a:r>
              <a:rPr sz="2800" dirty="0">
                <a:latin typeface="Times New Roman"/>
                <a:cs typeface="Times New Roman"/>
              </a:rPr>
              <a:t>This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broadcast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address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because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all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digits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F’s.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95"/>
              </a:spcBef>
            </a:pPr>
            <a:r>
              <a:rPr dirty="0"/>
              <a:t>Categories</a:t>
            </a:r>
            <a:r>
              <a:rPr spc="-14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dirty="0"/>
              <a:t>Standard</a:t>
            </a:r>
            <a:r>
              <a:rPr spc="-140" dirty="0"/>
              <a:t> </a:t>
            </a:r>
            <a:r>
              <a:rPr spc="-10" dirty="0"/>
              <a:t>Ethernet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2133600"/>
            <a:ext cx="6389624" cy="32842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4445" marR="5080" indent="-1951355">
              <a:lnSpc>
                <a:spcPct val="100000"/>
              </a:lnSpc>
              <a:spcBef>
                <a:spcPts val="95"/>
              </a:spcBef>
            </a:pPr>
            <a:r>
              <a:rPr dirty="0"/>
              <a:t>Encoding</a:t>
            </a:r>
            <a:r>
              <a:rPr spc="-100" dirty="0"/>
              <a:t> </a:t>
            </a:r>
            <a:r>
              <a:rPr dirty="0"/>
              <a:t>in</a:t>
            </a:r>
            <a:r>
              <a:rPr spc="-10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Standard</a:t>
            </a:r>
            <a:r>
              <a:rPr spc="-85" dirty="0"/>
              <a:t> </a:t>
            </a:r>
            <a:r>
              <a:rPr spc="-10" dirty="0"/>
              <a:t>Ethernet 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2362136"/>
            <a:ext cx="7367524" cy="32601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95"/>
              </a:spcBef>
            </a:pPr>
            <a:r>
              <a:rPr dirty="0"/>
              <a:t>10Base5</a:t>
            </a:r>
            <a:r>
              <a:rPr spc="-19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18" y="2590673"/>
            <a:ext cx="8659200" cy="180983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95"/>
              </a:spcBef>
            </a:pPr>
            <a:r>
              <a:rPr dirty="0"/>
              <a:t>10Base2</a:t>
            </a:r>
            <a:r>
              <a:rPr spc="-190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018" y="2232132"/>
            <a:ext cx="7827282" cy="31991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37287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10Base-</a:t>
            </a:r>
            <a:r>
              <a:rPr dirty="0"/>
              <a:t>T</a:t>
            </a:r>
            <a:r>
              <a:rPr spc="65" dirty="0"/>
              <a:t> </a:t>
            </a: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412" y="2438400"/>
            <a:ext cx="7674937" cy="27977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6810" marR="5080" indent="-1654175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-9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dirty="0"/>
              <a:t>Standard</a:t>
            </a:r>
            <a:r>
              <a:rPr spc="-125" dirty="0"/>
              <a:t> </a:t>
            </a:r>
            <a:r>
              <a:rPr spc="-10" dirty="0"/>
              <a:t>Ethernet 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283" y="2636249"/>
            <a:ext cx="7500931" cy="15576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836" y="363248"/>
            <a:ext cx="7232904" cy="4122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642620">
              <a:lnSpc>
                <a:spcPct val="100000"/>
              </a:lnSpc>
              <a:spcBef>
                <a:spcPts val="95"/>
              </a:spcBef>
            </a:pPr>
            <a:r>
              <a:rPr dirty="0"/>
              <a:t>CHANGES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STANDARD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26794" y="4519041"/>
            <a:ext cx="28092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Bridged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Ethernet 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Switched</a:t>
            </a:r>
            <a:r>
              <a:rPr sz="2400" b="1" spc="-6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Ethernet Full-</a:t>
            </a:r>
            <a:r>
              <a:rPr sz="2400" b="1" dirty="0">
                <a:solidFill>
                  <a:srgbClr val="0033CC"/>
                </a:solidFill>
                <a:latin typeface="Times New Roman"/>
                <a:cs typeface="Times New Roman"/>
              </a:rPr>
              <a:t>Duplex</a:t>
            </a:r>
            <a:r>
              <a:rPr sz="2400" b="1"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Ethernet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4859" y="1392936"/>
            <a:ext cx="7747000" cy="2291080"/>
            <a:chOff x="784859" y="1392936"/>
            <a:chExt cx="7747000" cy="229108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7686" y="1607260"/>
              <a:ext cx="561522" cy="2827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52372" y="1392936"/>
              <a:ext cx="832104" cy="5836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08987" y="1392936"/>
              <a:ext cx="594360" cy="58369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27859" y="1392936"/>
              <a:ext cx="1286256" cy="5836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54452" y="1392936"/>
              <a:ext cx="1737360" cy="58369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32148" y="1392936"/>
              <a:ext cx="1679448" cy="5836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51931" y="1392936"/>
              <a:ext cx="949451" cy="58369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41719" y="1392936"/>
              <a:ext cx="1165859" cy="5836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47915" y="1392936"/>
              <a:ext cx="1583435" cy="5836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4859" y="1819655"/>
              <a:ext cx="1481328" cy="5836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21763" y="1819655"/>
              <a:ext cx="1618488" cy="58369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95827" y="1819655"/>
              <a:ext cx="1382268" cy="58369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33671" y="1819655"/>
              <a:ext cx="1562100" cy="58369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451348" y="1819655"/>
              <a:ext cx="752855" cy="58369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59780" y="1819655"/>
              <a:ext cx="909827" cy="5836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5183" y="1819655"/>
              <a:ext cx="1382267" cy="5836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63028" y="1819655"/>
              <a:ext cx="1068324" cy="5836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84859" y="2246375"/>
              <a:ext cx="1146048" cy="58369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55419" y="2246375"/>
              <a:ext cx="563880" cy="58369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90115" y="2246375"/>
              <a:ext cx="1324356" cy="58369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685287" y="2246375"/>
              <a:ext cx="1620012" cy="5836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76115" y="2246375"/>
              <a:ext cx="1600200" cy="583691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45607" y="2246375"/>
              <a:ext cx="1502664" cy="58369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419088" y="2246375"/>
              <a:ext cx="908304" cy="58369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998207" y="2246375"/>
              <a:ext cx="1107948" cy="58369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76971" y="2246375"/>
              <a:ext cx="754379" cy="58369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4859" y="2673096"/>
              <a:ext cx="909828" cy="58369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81911" y="2673096"/>
              <a:ext cx="1818132" cy="58369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287267" y="2673096"/>
              <a:ext cx="772667" cy="58369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47159" y="2673096"/>
              <a:ext cx="909827" cy="58369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744212" y="2673096"/>
              <a:ext cx="1680972" cy="58369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12407" y="2673096"/>
              <a:ext cx="751332" cy="58369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950963" y="2673096"/>
              <a:ext cx="1580387" cy="58369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84859" y="3099815"/>
              <a:ext cx="2052827" cy="5836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449067" y="3099815"/>
              <a:ext cx="1107947" cy="58369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169920" y="3099815"/>
              <a:ext cx="1207008" cy="58369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988308" y="3099815"/>
              <a:ext cx="1109472" cy="58369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22292" y="3099815"/>
              <a:ext cx="594360" cy="58369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4741163" y="3099815"/>
              <a:ext cx="1066800" cy="58369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32475" y="3099815"/>
              <a:ext cx="594360" cy="5836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51348" y="3099815"/>
              <a:ext cx="1007363" cy="5836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70092" y="3099815"/>
              <a:ext cx="1342643" cy="58369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937248" y="3099815"/>
              <a:ext cx="563879" cy="58369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993444" y="1484503"/>
            <a:ext cx="7296784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10-</a:t>
            </a:r>
            <a:r>
              <a:rPr sz="2800" dirty="0">
                <a:latin typeface="Times New Roman"/>
                <a:cs typeface="Times New Roman"/>
              </a:rPr>
              <a:t>Mbps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Standard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Ethernet</a:t>
            </a:r>
            <a:r>
              <a:rPr sz="2800" spc="1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gone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through </a:t>
            </a:r>
            <a:r>
              <a:rPr sz="2800" dirty="0">
                <a:latin typeface="Times New Roman"/>
                <a:cs typeface="Times New Roman"/>
              </a:rPr>
              <a:t>several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before</a:t>
            </a:r>
            <a:r>
              <a:rPr sz="2800" spc="3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moving</a:t>
            </a:r>
            <a:r>
              <a:rPr sz="2800" spc="3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higher</a:t>
            </a:r>
            <a:r>
              <a:rPr sz="2800" spc="30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data </a:t>
            </a:r>
            <a:r>
              <a:rPr sz="2800" dirty="0">
                <a:latin typeface="Times New Roman"/>
                <a:cs typeface="Times New Roman"/>
              </a:rPr>
              <a:t>rates.</a:t>
            </a:r>
            <a:r>
              <a:rPr sz="2800" spc="4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These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4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actually</a:t>
            </a:r>
            <a:r>
              <a:rPr sz="2800" spc="43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opened</a:t>
            </a:r>
            <a:r>
              <a:rPr sz="2800" spc="4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4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road</a:t>
            </a:r>
            <a:r>
              <a:rPr sz="2800" spc="44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93444" y="2764612"/>
            <a:ext cx="72961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09625" algn="l"/>
                <a:tab pos="2515235" algn="l"/>
                <a:tab pos="3175000" algn="l"/>
                <a:tab pos="3972560" algn="l"/>
                <a:tab pos="5541010" algn="l"/>
                <a:tab pos="6179185" algn="l"/>
              </a:tabLst>
            </a:pP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evolution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of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Ethernet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become</a:t>
            </a:r>
            <a:endParaRPr sz="2800">
              <a:latin typeface="Times New Roman"/>
              <a:cs typeface="Times New Roman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112519" y="3663696"/>
            <a:ext cx="5120640" cy="597535"/>
            <a:chOff x="1112519" y="3663696"/>
            <a:chExt cx="5120640" cy="597535"/>
          </a:xfrm>
        </p:grpSpPr>
        <p:pic>
          <p:nvPicPr>
            <p:cNvPr id="52" name="object 5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12519" y="3663696"/>
              <a:ext cx="5120639" cy="583692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21307" y="4148328"/>
              <a:ext cx="4724400" cy="112775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93444" y="3053867"/>
            <a:ext cx="6268085" cy="115316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800" dirty="0">
                <a:latin typeface="Times New Roman"/>
                <a:cs typeface="Times New Roman"/>
              </a:rPr>
              <a:t>compatible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with other</a:t>
            </a:r>
            <a:r>
              <a:rPr sz="2800" spc="-10" dirty="0">
                <a:latin typeface="Times New Roman"/>
                <a:cs typeface="Times New Roman"/>
              </a:rPr>
              <a:t> high-data-</a:t>
            </a:r>
            <a:r>
              <a:rPr sz="2800" dirty="0">
                <a:latin typeface="Times New Roman"/>
                <a:cs typeface="Times New Roman"/>
              </a:rPr>
              <a:t>rate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LANs.</a:t>
            </a:r>
            <a:endParaRPr sz="2800">
              <a:latin typeface="Times New Roman"/>
              <a:cs typeface="Times New Roman"/>
            </a:endParaRPr>
          </a:p>
          <a:p>
            <a:pPr marL="340360">
              <a:lnSpc>
                <a:spcPct val="100000"/>
              </a:lnSpc>
              <a:spcBef>
                <a:spcPts val="1080"/>
              </a:spcBef>
            </a:pPr>
            <a:r>
              <a:rPr sz="2800" b="1" i="1" u="sng" spc="-3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Topics</a:t>
            </a:r>
            <a:r>
              <a:rPr sz="2800" b="1" i="1" u="sng" spc="-7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discussed</a:t>
            </a:r>
            <a:r>
              <a:rPr sz="2800" b="1" i="1" u="sng" spc="-6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i="1" u="sng" spc="-45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this</a:t>
            </a:r>
            <a:r>
              <a:rPr sz="2800" b="1" i="1" u="sng" spc="-5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i="1" u="sng" spc="-10" dirty="0">
                <a:solidFill>
                  <a:srgbClr val="009999"/>
                </a:solidFill>
                <a:uFill>
                  <a:solidFill>
                    <a:srgbClr val="009999"/>
                  </a:solidFill>
                </a:uFill>
                <a:latin typeface="Times New Roman"/>
                <a:cs typeface="Times New Roman"/>
              </a:rPr>
              <a:t>section: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162175">
              <a:lnSpc>
                <a:spcPct val="100000"/>
              </a:lnSpc>
              <a:spcBef>
                <a:spcPts val="95"/>
              </a:spcBef>
            </a:pPr>
            <a:r>
              <a:rPr dirty="0"/>
              <a:t>Sharing</a:t>
            </a:r>
            <a:r>
              <a:rPr spc="-175" dirty="0"/>
              <a:t> </a:t>
            </a:r>
            <a:r>
              <a:rPr spc="-10" dirty="0"/>
              <a:t>bandwidth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438400"/>
            <a:ext cx="8382000" cy="22050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80" dirty="0"/>
              <a:t> </a:t>
            </a:r>
            <a:r>
              <a:rPr dirty="0"/>
              <a:t>network</a:t>
            </a:r>
            <a:r>
              <a:rPr spc="-75" dirty="0"/>
              <a:t> </a:t>
            </a:r>
            <a:r>
              <a:rPr dirty="0"/>
              <a:t>with</a:t>
            </a:r>
            <a:r>
              <a:rPr spc="-80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without</a:t>
            </a:r>
            <a:r>
              <a:rPr spc="-65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spc="-10" dirty="0"/>
              <a:t>bridge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133600"/>
            <a:ext cx="8522976" cy="29520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0575" marR="5080" indent="-337185">
              <a:lnSpc>
                <a:spcPct val="100000"/>
              </a:lnSpc>
              <a:spcBef>
                <a:spcPts val="95"/>
              </a:spcBef>
            </a:pPr>
            <a:r>
              <a:rPr dirty="0"/>
              <a:t>Collision</a:t>
            </a:r>
            <a:r>
              <a:rPr spc="-90" dirty="0"/>
              <a:t> </a:t>
            </a:r>
            <a:r>
              <a:rPr dirty="0"/>
              <a:t>domains</a:t>
            </a:r>
            <a:r>
              <a:rPr spc="-65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an</a:t>
            </a:r>
            <a:r>
              <a:rPr spc="-85" dirty="0"/>
              <a:t> </a:t>
            </a:r>
            <a:r>
              <a:rPr spc="-10" dirty="0"/>
              <a:t>unbridged </a:t>
            </a:r>
            <a:r>
              <a:rPr dirty="0"/>
              <a:t>network</a:t>
            </a:r>
            <a:r>
              <a:rPr spc="-95" dirty="0"/>
              <a:t> </a:t>
            </a:r>
            <a:r>
              <a:rPr dirty="0"/>
              <a:t>and</a:t>
            </a:r>
            <a:r>
              <a:rPr spc="-9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bridged</a:t>
            </a:r>
            <a:r>
              <a:rPr spc="-7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1524000"/>
            <a:ext cx="8528050" cy="43947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205355">
              <a:lnSpc>
                <a:spcPct val="100000"/>
              </a:lnSpc>
              <a:spcBef>
                <a:spcPts val="95"/>
              </a:spcBef>
            </a:pPr>
            <a:r>
              <a:rPr dirty="0"/>
              <a:t>Switched</a:t>
            </a:r>
            <a:r>
              <a:rPr spc="-215" dirty="0"/>
              <a:t> </a:t>
            </a:r>
            <a:r>
              <a:rPr spc="-10" dirty="0"/>
              <a:t>Ethernet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6164" y="2007228"/>
            <a:ext cx="7009771" cy="339670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93408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Full-</a:t>
            </a:r>
            <a:r>
              <a:rPr dirty="0"/>
              <a:t>duplex</a:t>
            </a:r>
            <a:r>
              <a:rPr spc="-120" dirty="0"/>
              <a:t> </a:t>
            </a:r>
            <a:r>
              <a:rPr dirty="0"/>
              <a:t>switched</a:t>
            </a:r>
            <a:r>
              <a:rPr spc="-120" dirty="0"/>
              <a:t> </a:t>
            </a:r>
            <a:r>
              <a:rPr spc="-10" dirty="0"/>
              <a:t>Ethernet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2010942"/>
            <a:ext cx="6791325" cy="373263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6667" y="646704"/>
            <a:ext cx="4617719" cy="4579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1007" rIns="0" bIns="0" rtlCol="0">
            <a:spAutoFit/>
          </a:bodyPr>
          <a:lstStyle/>
          <a:p>
            <a:pPr marL="1950085">
              <a:lnSpc>
                <a:spcPct val="100000"/>
              </a:lnSpc>
              <a:spcBef>
                <a:spcPts val="105"/>
              </a:spcBef>
            </a:pPr>
            <a:r>
              <a:rPr sz="4400" b="1" dirty="0">
                <a:latin typeface="Arial"/>
                <a:cs typeface="Arial"/>
              </a:rPr>
              <a:t>FAST</a:t>
            </a:r>
            <a:r>
              <a:rPr sz="4400" b="1" spc="-20" dirty="0">
                <a:latin typeface="Arial"/>
                <a:cs typeface="Arial"/>
              </a:rPr>
              <a:t> </a:t>
            </a:r>
            <a:r>
              <a:rPr sz="4400" b="1" spc="-10" dirty="0">
                <a:latin typeface="Arial"/>
                <a:cs typeface="Arial"/>
              </a:rPr>
              <a:t>ETHERNET</a:t>
            </a:r>
            <a:endParaRPr sz="4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38555" y="1514855"/>
            <a:ext cx="8242300" cy="3587750"/>
            <a:chOff x="638555" y="1514855"/>
            <a:chExt cx="8242300" cy="3587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1695" y="1747491"/>
              <a:ext cx="794616" cy="3329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2016" y="1514855"/>
              <a:ext cx="2072639" cy="6614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7663" y="1514855"/>
              <a:ext cx="1263396" cy="6614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55591" y="1514855"/>
              <a:ext cx="2183891" cy="6614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24015" y="1514855"/>
              <a:ext cx="876299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4847" y="1514855"/>
              <a:ext cx="2095500" cy="6614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8555" y="2002536"/>
              <a:ext cx="1261871" cy="661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7236" y="2002536"/>
              <a:ext cx="1330452" cy="6614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44495" y="2002536"/>
              <a:ext cx="2186939" cy="6614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6720" y="2002536"/>
              <a:ext cx="1397508" cy="661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41035" y="2002536"/>
              <a:ext cx="969263" cy="6614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17108" y="2002536"/>
              <a:ext cx="1487424" cy="6614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911340" y="2002536"/>
              <a:ext cx="900683" cy="661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18832" y="2002536"/>
              <a:ext cx="1461516" cy="6614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555" y="2490216"/>
              <a:ext cx="2051304" cy="6614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50363" y="2490216"/>
              <a:ext cx="652272" cy="6614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31948" y="2490216"/>
              <a:ext cx="1466088" cy="6614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27347" y="2490216"/>
              <a:ext cx="1892807" cy="6614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649467" y="2490216"/>
              <a:ext cx="1328928" cy="6614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07708" y="2490216"/>
              <a:ext cx="2072640" cy="66141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38555" y="2977895"/>
              <a:ext cx="1577340" cy="6614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62327" y="2977895"/>
              <a:ext cx="1103376" cy="6614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612135" y="2977895"/>
              <a:ext cx="1554480" cy="6614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13048" y="2977895"/>
              <a:ext cx="1216152" cy="6614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89703" y="2977895"/>
              <a:ext cx="652272" cy="6614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02479" y="2977895"/>
              <a:ext cx="765048" cy="66141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828032" y="2977895"/>
              <a:ext cx="765048" cy="6614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53584" y="2977895"/>
              <a:ext cx="652272" cy="6614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352288" y="2977895"/>
              <a:ext cx="1330452" cy="6614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27647" y="2977895"/>
              <a:ext cx="2072640" cy="6614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046720" y="2977895"/>
              <a:ext cx="833627" cy="66141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38555" y="3465576"/>
              <a:ext cx="2276856" cy="6614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75916" y="3465576"/>
              <a:ext cx="675132" cy="66141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11551" y="3465576"/>
              <a:ext cx="2499360" cy="66141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21223" y="3465576"/>
              <a:ext cx="1261872" cy="66141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93408" y="3465576"/>
              <a:ext cx="2186940" cy="6614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8555" y="3953255"/>
              <a:ext cx="2185416" cy="66141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424683" y="3953255"/>
              <a:ext cx="1103375" cy="66141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128772" y="3953255"/>
              <a:ext cx="742188" cy="6614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471672" y="3953255"/>
              <a:ext cx="1194815" cy="66141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267200" y="3953255"/>
              <a:ext cx="1982724" cy="66141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850635" y="3953255"/>
              <a:ext cx="1328928" cy="66141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780276" y="3953255"/>
              <a:ext cx="990600" cy="66141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371587" y="3953255"/>
              <a:ext cx="1508759" cy="66141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555" y="4440935"/>
              <a:ext cx="1556004" cy="66141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64791" y="4440935"/>
              <a:ext cx="877824" cy="66141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2214372" y="4440935"/>
              <a:ext cx="765048" cy="661415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552700" y="4440935"/>
              <a:ext cx="1239012" cy="66141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364991" y="4440935"/>
              <a:ext cx="877824" cy="66141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814572" y="4440935"/>
              <a:ext cx="1216152" cy="66141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604003" y="4440935"/>
              <a:ext cx="1533144" cy="66141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97652" y="4440935"/>
              <a:ext cx="652272" cy="661415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879144" y="1621282"/>
            <a:ext cx="773049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MT"/>
                <a:cs typeface="Arial MT"/>
              </a:rPr>
              <a:t>Fast</a:t>
            </a:r>
            <a:r>
              <a:rPr sz="3200" spc="-3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Ethernet</a:t>
            </a:r>
            <a:r>
              <a:rPr sz="3200" spc="-3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was</a:t>
            </a:r>
            <a:r>
              <a:rPr sz="3200" spc="-2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designed</a:t>
            </a:r>
            <a:r>
              <a:rPr sz="3200" spc="-3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to</a:t>
            </a:r>
            <a:r>
              <a:rPr sz="3200" spc="-30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compete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2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LAN</a:t>
            </a:r>
            <a:r>
              <a:rPr sz="3200" spc="2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protocols</a:t>
            </a:r>
            <a:r>
              <a:rPr sz="3200" spc="229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such</a:t>
            </a:r>
            <a:r>
              <a:rPr sz="3200" spc="229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2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FDDI</a:t>
            </a:r>
            <a:r>
              <a:rPr sz="3200" spc="2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or</a:t>
            </a:r>
            <a:r>
              <a:rPr sz="3200" spc="24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Fiber </a:t>
            </a:r>
            <a:r>
              <a:rPr sz="3200" dirty="0">
                <a:latin typeface="Arial MT"/>
                <a:cs typeface="Arial MT"/>
              </a:rPr>
              <a:t>Channel.</a:t>
            </a:r>
            <a:r>
              <a:rPr sz="3200" spc="5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IEEE</a:t>
            </a:r>
            <a:r>
              <a:rPr sz="3200" spc="545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created</a:t>
            </a:r>
            <a:r>
              <a:rPr sz="3200" spc="540" dirty="0">
                <a:latin typeface="Arial MT"/>
                <a:cs typeface="Arial MT"/>
              </a:rPr>
              <a:t>  </a:t>
            </a:r>
            <a:r>
              <a:rPr sz="3200" dirty="0">
                <a:latin typeface="Arial MT"/>
                <a:cs typeface="Arial MT"/>
              </a:rPr>
              <a:t>Fast</a:t>
            </a:r>
            <a:r>
              <a:rPr sz="3200" spc="540" dirty="0">
                <a:latin typeface="Arial MT"/>
                <a:cs typeface="Arial MT"/>
              </a:rPr>
              <a:t>  </a:t>
            </a:r>
            <a:r>
              <a:rPr sz="3200" spc="-10" dirty="0">
                <a:latin typeface="Arial MT"/>
                <a:cs typeface="Arial MT"/>
              </a:rPr>
              <a:t>Ethernet </a:t>
            </a:r>
            <a:r>
              <a:rPr sz="3200" dirty="0">
                <a:latin typeface="Arial MT"/>
                <a:cs typeface="Arial MT"/>
              </a:rPr>
              <a:t>under</a:t>
            </a:r>
            <a:r>
              <a:rPr sz="3200" spc="5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5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name</a:t>
            </a:r>
            <a:r>
              <a:rPr sz="3200" spc="5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802.3u.</a:t>
            </a:r>
            <a:r>
              <a:rPr sz="3200" spc="5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Fast</a:t>
            </a:r>
            <a:r>
              <a:rPr sz="3200" spc="5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Ethernet</a:t>
            </a:r>
            <a:r>
              <a:rPr sz="3200" spc="530" dirty="0">
                <a:latin typeface="Arial MT"/>
                <a:cs typeface="Arial MT"/>
              </a:rPr>
              <a:t> </a:t>
            </a:r>
            <a:r>
              <a:rPr sz="3200" spc="-25" dirty="0">
                <a:latin typeface="Arial MT"/>
                <a:cs typeface="Arial MT"/>
              </a:rPr>
              <a:t>is </a:t>
            </a:r>
            <a:r>
              <a:rPr sz="3200" spc="-10" dirty="0">
                <a:latin typeface="Arial MT"/>
                <a:cs typeface="Arial MT"/>
              </a:rPr>
              <a:t>backward-</a:t>
            </a:r>
            <a:r>
              <a:rPr sz="3200" dirty="0">
                <a:latin typeface="Arial MT"/>
                <a:cs typeface="Arial MT"/>
              </a:rPr>
              <a:t>compatible</a:t>
            </a:r>
            <a:r>
              <a:rPr sz="3200" spc="575" dirty="0">
                <a:latin typeface="Arial MT"/>
                <a:cs typeface="Arial MT"/>
              </a:rPr>
              <a:t>    </a:t>
            </a:r>
            <a:r>
              <a:rPr sz="3200" dirty="0">
                <a:latin typeface="Arial MT"/>
                <a:cs typeface="Arial MT"/>
              </a:rPr>
              <a:t>with</a:t>
            </a:r>
            <a:r>
              <a:rPr sz="3200" spc="575" dirty="0">
                <a:latin typeface="Arial MT"/>
                <a:cs typeface="Arial MT"/>
              </a:rPr>
              <a:t>    </a:t>
            </a:r>
            <a:r>
              <a:rPr sz="3200" spc="-10" dirty="0">
                <a:latin typeface="Arial MT"/>
                <a:cs typeface="Arial MT"/>
              </a:rPr>
              <a:t>Standard </a:t>
            </a:r>
            <a:r>
              <a:rPr sz="3200" dirty="0">
                <a:latin typeface="Arial MT"/>
                <a:cs typeface="Arial MT"/>
              </a:rPr>
              <a:t>Ethernet,</a:t>
            </a:r>
            <a:r>
              <a:rPr sz="3200" spc="1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but</a:t>
            </a:r>
            <a:r>
              <a:rPr sz="3200" spc="1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it</a:t>
            </a:r>
            <a:r>
              <a:rPr sz="3200" spc="18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can</a:t>
            </a:r>
            <a:r>
              <a:rPr sz="3200" spc="18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transmit</a:t>
            </a:r>
            <a:r>
              <a:rPr sz="3200" spc="19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data</a:t>
            </a:r>
            <a:r>
              <a:rPr sz="3200" spc="17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10</a:t>
            </a:r>
            <a:r>
              <a:rPr sz="3200" spc="18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times </a:t>
            </a:r>
            <a:r>
              <a:rPr sz="3200" dirty="0">
                <a:latin typeface="Arial MT"/>
                <a:cs typeface="Arial MT"/>
              </a:rPr>
              <a:t>faster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at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rate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of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100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Mbps.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709420">
              <a:lnSpc>
                <a:spcPct val="100000"/>
              </a:lnSpc>
              <a:spcBef>
                <a:spcPts val="95"/>
              </a:spcBef>
            </a:pPr>
            <a:r>
              <a:rPr dirty="0"/>
              <a:t>Fast</a:t>
            </a:r>
            <a:r>
              <a:rPr spc="-75" dirty="0"/>
              <a:t> </a:t>
            </a:r>
            <a:r>
              <a:rPr dirty="0"/>
              <a:t>Ethernet</a:t>
            </a:r>
            <a:r>
              <a:rPr spc="-55" dirty="0"/>
              <a:t> </a:t>
            </a:r>
            <a:r>
              <a:rPr spc="-10" dirty="0"/>
              <a:t>topology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590673"/>
            <a:ext cx="6923042" cy="226510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822325">
              <a:lnSpc>
                <a:spcPct val="100000"/>
              </a:lnSpc>
              <a:spcBef>
                <a:spcPts val="95"/>
              </a:spcBef>
            </a:pPr>
            <a:r>
              <a:rPr dirty="0"/>
              <a:t>Fast</a:t>
            </a:r>
            <a:r>
              <a:rPr spc="-50" dirty="0"/>
              <a:t> </a:t>
            </a:r>
            <a:r>
              <a:rPr dirty="0"/>
              <a:t>Ethernet</a:t>
            </a:r>
            <a:r>
              <a:rPr spc="-40" dirty="0"/>
              <a:t> </a:t>
            </a:r>
            <a:r>
              <a:rPr spc="-10" dirty="0"/>
              <a:t>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514600"/>
            <a:ext cx="6654800" cy="258429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6810" marR="5080" indent="-111633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-65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Fast</a:t>
            </a:r>
            <a:r>
              <a:rPr spc="-90" dirty="0"/>
              <a:t> </a:t>
            </a:r>
            <a:r>
              <a:rPr spc="-10" dirty="0"/>
              <a:t>Ethernet 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801" y="2466187"/>
            <a:ext cx="7487390" cy="19673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5217" y="363248"/>
            <a:ext cx="4929958" cy="4122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1799589">
              <a:lnSpc>
                <a:spcPct val="100000"/>
              </a:lnSpc>
              <a:spcBef>
                <a:spcPts val="95"/>
              </a:spcBef>
            </a:pPr>
            <a:r>
              <a:rPr dirty="0"/>
              <a:t>GIGABIT </a:t>
            </a:r>
            <a:r>
              <a:rPr spc="-10" dirty="0"/>
              <a:t>ETHERNET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8555" y="1514855"/>
            <a:ext cx="8242300" cy="2124710"/>
            <a:chOff x="638555" y="1514855"/>
            <a:chExt cx="8242300" cy="212471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9159" y="1747491"/>
              <a:ext cx="713232" cy="3329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8863" y="1514855"/>
              <a:ext cx="1440180" cy="6614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0339" y="1514855"/>
              <a:ext cx="1013460" cy="6614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3572" y="1514855"/>
              <a:ext cx="990600" cy="6614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25467" y="1514855"/>
              <a:ext cx="1418843" cy="6614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5608" y="1514855"/>
              <a:ext cx="1667256" cy="6614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4159" y="1514855"/>
              <a:ext cx="1328927" cy="6614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44384" y="1514855"/>
              <a:ext cx="1235964" cy="66141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8555" y="2002536"/>
              <a:ext cx="1982724" cy="66141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14016" y="2002536"/>
              <a:ext cx="854963" cy="66141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1716" y="2002536"/>
              <a:ext cx="1104900" cy="6614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59352" y="2002536"/>
              <a:ext cx="1735836" cy="6614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87923" y="2002536"/>
              <a:ext cx="877824" cy="66141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58484" y="2002536"/>
              <a:ext cx="1104900" cy="66141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56120" y="2002536"/>
              <a:ext cx="1824227" cy="66141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8555" y="2490216"/>
              <a:ext cx="2072639" cy="6614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336291" y="2490216"/>
              <a:ext cx="1982724" cy="66141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44111" y="2490216"/>
              <a:ext cx="675132" cy="66141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79747" y="2490216"/>
              <a:ext cx="1441703" cy="66141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46547" y="2490216"/>
              <a:ext cx="1668779" cy="66141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75832" y="2490216"/>
              <a:ext cx="652271" cy="6614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51676" y="2490216"/>
              <a:ext cx="1239012" cy="66141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415784" y="2490216"/>
              <a:ext cx="1464564" cy="6614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8555" y="2977895"/>
              <a:ext cx="2412492" cy="6614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621279" y="2977895"/>
              <a:ext cx="1353312" cy="66141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546348" y="2977895"/>
              <a:ext cx="1103376" cy="66141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223003" y="2977895"/>
              <a:ext cx="2119883" cy="6614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14644" y="2977895"/>
              <a:ext cx="1216152" cy="6614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91300" y="2977895"/>
              <a:ext cx="652272" cy="66141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704076" y="2977895"/>
              <a:ext cx="765048" cy="66141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29627" y="2977895"/>
              <a:ext cx="743712" cy="66141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33844" y="2977895"/>
              <a:ext cx="652272" cy="661415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40" dirty="0"/>
              <a:t>  </a:t>
            </a:r>
            <a:r>
              <a:rPr dirty="0"/>
              <a:t>need</a:t>
            </a:r>
            <a:r>
              <a:rPr spc="40" dirty="0"/>
              <a:t>  </a:t>
            </a:r>
            <a:r>
              <a:rPr dirty="0"/>
              <a:t>for</a:t>
            </a:r>
            <a:r>
              <a:rPr spc="35" dirty="0"/>
              <a:t>  </a:t>
            </a:r>
            <a:r>
              <a:rPr dirty="0"/>
              <a:t>an</a:t>
            </a:r>
            <a:r>
              <a:rPr spc="40" dirty="0"/>
              <a:t>  </a:t>
            </a:r>
            <a:r>
              <a:rPr dirty="0"/>
              <a:t>even</a:t>
            </a:r>
            <a:r>
              <a:rPr spc="45" dirty="0"/>
              <a:t>  </a:t>
            </a:r>
            <a:r>
              <a:rPr dirty="0"/>
              <a:t>higher</a:t>
            </a:r>
            <a:r>
              <a:rPr spc="45" dirty="0"/>
              <a:t>  </a:t>
            </a:r>
            <a:r>
              <a:rPr dirty="0"/>
              <a:t>data</a:t>
            </a:r>
            <a:r>
              <a:rPr spc="40" dirty="0"/>
              <a:t>  </a:t>
            </a:r>
            <a:r>
              <a:rPr spc="-20" dirty="0"/>
              <a:t>rate </a:t>
            </a:r>
            <a:r>
              <a:rPr dirty="0"/>
              <a:t>resulted</a:t>
            </a:r>
            <a:r>
              <a:rPr spc="395" dirty="0"/>
              <a:t>  </a:t>
            </a:r>
            <a:r>
              <a:rPr dirty="0"/>
              <a:t>in</a:t>
            </a:r>
            <a:r>
              <a:rPr spc="405" dirty="0"/>
              <a:t>  </a:t>
            </a:r>
            <a:r>
              <a:rPr dirty="0"/>
              <a:t>the</a:t>
            </a:r>
            <a:r>
              <a:rPr spc="409" dirty="0"/>
              <a:t>  </a:t>
            </a:r>
            <a:r>
              <a:rPr dirty="0"/>
              <a:t>design</a:t>
            </a:r>
            <a:r>
              <a:rPr spc="400" dirty="0"/>
              <a:t>  </a:t>
            </a:r>
            <a:r>
              <a:rPr dirty="0"/>
              <a:t>of</a:t>
            </a:r>
            <a:r>
              <a:rPr spc="405" dirty="0"/>
              <a:t>  </a:t>
            </a:r>
            <a:r>
              <a:rPr dirty="0"/>
              <a:t>the</a:t>
            </a:r>
            <a:r>
              <a:rPr spc="400" dirty="0"/>
              <a:t>  </a:t>
            </a:r>
            <a:r>
              <a:rPr spc="-10" dirty="0"/>
              <a:t>Gigabit </a:t>
            </a:r>
            <a:r>
              <a:rPr dirty="0"/>
              <a:t>Ethernet</a:t>
            </a:r>
            <a:r>
              <a:rPr spc="355" dirty="0"/>
              <a:t> </a:t>
            </a:r>
            <a:r>
              <a:rPr dirty="0"/>
              <a:t>protocol</a:t>
            </a:r>
            <a:r>
              <a:rPr spc="370" dirty="0"/>
              <a:t> </a:t>
            </a:r>
            <a:r>
              <a:rPr dirty="0"/>
              <a:t>(1000</a:t>
            </a:r>
            <a:r>
              <a:rPr spc="360" dirty="0"/>
              <a:t> </a:t>
            </a:r>
            <a:r>
              <a:rPr dirty="0"/>
              <a:t>Mbps).</a:t>
            </a:r>
            <a:r>
              <a:rPr spc="355" dirty="0"/>
              <a:t> </a:t>
            </a:r>
            <a:r>
              <a:rPr dirty="0"/>
              <a:t>The</a:t>
            </a:r>
            <a:r>
              <a:rPr spc="355" dirty="0"/>
              <a:t> </a:t>
            </a:r>
            <a:r>
              <a:rPr spc="-20" dirty="0"/>
              <a:t>IEEE </a:t>
            </a:r>
            <a:r>
              <a:rPr dirty="0"/>
              <a:t>committee</a:t>
            </a:r>
            <a:r>
              <a:rPr spc="-65" dirty="0"/>
              <a:t> </a:t>
            </a:r>
            <a:r>
              <a:rPr dirty="0"/>
              <a:t>calls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standard</a:t>
            </a:r>
            <a:r>
              <a:rPr spc="-35" dirty="0"/>
              <a:t> </a:t>
            </a:r>
            <a:r>
              <a:rPr spc="-10" dirty="0"/>
              <a:t>802.3z.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5300" y="2301875"/>
            <a:ext cx="8077200" cy="2529205"/>
          </a:xfrm>
          <a:custGeom>
            <a:avLst/>
            <a:gdLst/>
            <a:ahLst/>
            <a:cxnLst/>
            <a:rect l="l" t="t" r="r" b="b"/>
            <a:pathLst>
              <a:path w="8077200" h="2529204">
                <a:moveTo>
                  <a:pt x="8077200" y="0"/>
                </a:moveTo>
                <a:lnTo>
                  <a:pt x="0" y="0"/>
                </a:lnTo>
                <a:lnTo>
                  <a:pt x="0" y="2528951"/>
                </a:lnTo>
                <a:lnTo>
                  <a:pt x="8077200" y="2528951"/>
                </a:lnTo>
                <a:lnTo>
                  <a:pt x="8077200" y="0"/>
                </a:lnTo>
                <a:close/>
              </a:path>
            </a:pathLst>
          </a:custGeom>
          <a:solidFill>
            <a:srgbClr val="99FF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5474" y="2323338"/>
            <a:ext cx="722820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5445" marR="38227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2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full-</a:t>
            </a:r>
            <a:r>
              <a:rPr sz="3200" b="1" dirty="0">
                <a:latin typeface="Arial"/>
                <a:cs typeface="Arial"/>
              </a:rPr>
              <a:t>duplex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mode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1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Gigabit </a:t>
            </a:r>
            <a:r>
              <a:rPr sz="3200" b="1" dirty="0">
                <a:latin typeface="Arial"/>
                <a:cs typeface="Arial"/>
              </a:rPr>
              <a:t>Ethernet,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there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is no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collision;</a:t>
            </a:r>
            <a:endParaRPr sz="3200">
              <a:latin typeface="Arial"/>
              <a:cs typeface="Arial"/>
            </a:endParaRPr>
          </a:p>
          <a:p>
            <a:pPr marL="12065" marR="5080" algn="ctr">
              <a:lnSpc>
                <a:spcPct val="100000"/>
              </a:lnSpc>
              <a:tabLst>
                <a:tab pos="2426970" algn="l"/>
              </a:tabLst>
            </a:pP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4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maximum</a:t>
            </a:r>
            <a:r>
              <a:rPr sz="3200" b="1" spc="-1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length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3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cable </a:t>
            </a:r>
            <a:r>
              <a:rPr sz="3200" b="1" spc="-25" dirty="0">
                <a:latin typeface="Arial"/>
                <a:cs typeface="Arial"/>
              </a:rPr>
              <a:t>is </a:t>
            </a:r>
            <a:r>
              <a:rPr sz="3200" b="1" spc="-10" dirty="0">
                <a:latin typeface="Arial"/>
                <a:cs typeface="Arial"/>
              </a:rPr>
              <a:t>determined</a:t>
            </a:r>
            <a:r>
              <a:rPr sz="3200" b="1" dirty="0">
                <a:latin typeface="Arial"/>
                <a:cs typeface="Arial"/>
              </a:rPr>
              <a:t>	by the</a:t>
            </a:r>
            <a:r>
              <a:rPr sz="3200" b="1" spc="-1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signal</a:t>
            </a:r>
            <a:r>
              <a:rPr sz="3200" b="1" spc="-3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attenuation </a:t>
            </a:r>
            <a:r>
              <a:rPr sz="3200" b="1" dirty="0">
                <a:latin typeface="Arial"/>
                <a:cs typeface="Arial"/>
              </a:rPr>
              <a:t>in</a:t>
            </a:r>
            <a:r>
              <a:rPr sz="3200" b="1" spc="-25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the</a:t>
            </a:r>
            <a:r>
              <a:rPr sz="3200" b="1" spc="-10" dirty="0">
                <a:latin typeface="Arial"/>
                <a:cs typeface="Arial"/>
              </a:rPr>
              <a:t> cable.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1523936"/>
            <a:ext cx="1143000" cy="5667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69442" y="1545081"/>
            <a:ext cx="715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20" dirty="0">
                <a:solidFill>
                  <a:srgbClr val="009999"/>
                </a:solidFill>
                <a:latin typeface="Times New Roman"/>
                <a:cs typeface="Times New Roman"/>
              </a:rPr>
              <a:t>Note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5025">
              <a:lnSpc>
                <a:spcPct val="100000"/>
              </a:lnSpc>
              <a:spcBef>
                <a:spcPts val="95"/>
              </a:spcBef>
            </a:pPr>
            <a:r>
              <a:rPr dirty="0"/>
              <a:t>Topologies</a:t>
            </a:r>
            <a:r>
              <a:rPr spc="-120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Gigabit</a:t>
            </a:r>
            <a:r>
              <a:rPr spc="-114" dirty="0"/>
              <a:t> </a:t>
            </a:r>
            <a:r>
              <a:rPr spc="-10" dirty="0"/>
              <a:t>Ethernet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838200"/>
            <a:ext cx="4479925" cy="5473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509905">
              <a:lnSpc>
                <a:spcPct val="100000"/>
              </a:lnSpc>
              <a:spcBef>
                <a:spcPts val="95"/>
              </a:spcBef>
            </a:pPr>
            <a:r>
              <a:rPr dirty="0"/>
              <a:t>Gigabit</a:t>
            </a:r>
            <a:r>
              <a:rPr spc="-165" dirty="0"/>
              <a:t> </a:t>
            </a:r>
            <a:r>
              <a:rPr dirty="0"/>
              <a:t>Ethernet</a:t>
            </a:r>
            <a:r>
              <a:rPr spc="-145" dirty="0"/>
              <a:t> </a:t>
            </a:r>
            <a:r>
              <a:rPr spc="-10" dirty="0"/>
              <a:t>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578" y="2209800"/>
            <a:ext cx="7953870" cy="287163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941" rIns="0" bIns="0" rtlCol="0">
            <a:spAutoFit/>
          </a:bodyPr>
          <a:lstStyle/>
          <a:p>
            <a:pPr marL="2416810" marR="5080" indent="-142875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-9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Gigabit</a:t>
            </a:r>
            <a:r>
              <a:rPr spc="-90" dirty="0"/>
              <a:t> </a:t>
            </a:r>
            <a:r>
              <a:rPr spc="-10" dirty="0"/>
              <a:t>Ethernet 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022" y="2344535"/>
            <a:ext cx="7497121" cy="220096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6810" marR="5080" indent="-1950085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-70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spc="-35" dirty="0"/>
              <a:t>Ten-</a:t>
            </a:r>
            <a:r>
              <a:rPr dirty="0"/>
              <a:t>Gigabit</a:t>
            </a:r>
            <a:r>
              <a:rPr spc="-65" dirty="0"/>
              <a:t> </a:t>
            </a:r>
            <a:r>
              <a:rPr spc="-10" dirty="0"/>
              <a:t>Ethernet implementations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3598" y="2483832"/>
            <a:ext cx="7497860" cy="146512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3284982" y="6290385"/>
            <a:ext cx="2574925" cy="207557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419100" marR="5080" indent="-407034">
              <a:lnSpc>
                <a:spcPts val="1680"/>
              </a:lnSpc>
              <a:spcBef>
                <a:spcPts val="25"/>
              </a:spcBef>
            </a:pP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6552" y="2334590"/>
            <a:ext cx="6397625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1630" marR="5080" indent="-159956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THANK</a:t>
            </a:r>
            <a:r>
              <a:rPr sz="4400" spc="-20" dirty="0"/>
              <a:t> </a:t>
            </a:r>
            <a:r>
              <a:rPr sz="4400" dirty="0"/>
              <a:t>YOU FOR </a:t>
            </a:r>
            <a:r>
              <a:rPr sz="4400" spc="-20" dirty="0"/>
              <a:t>YOUR </a:t>
            </a:r>
            <a:r>
              <a:rPr sz="4400" spc="-10" dirty="0"/>
              <a:t>ATTENTION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666</Words>
  <Application>Microsoft Office PowerPoint</Application>
  <PresentationFormat>On-screen Show (4:3)</PresentationFormat>
  <Paragraphs>111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Arial MT</vt:lpstr>
      <vt:lpstr>Calibri</vt:lpstr>
      <vt:lpstr>Times New Roman</vt:lpstr>
      <vt:lpstr>Wingdings</vt:lpstr>
      <vt:lpstr>Office Theme</vt:lpstr>
      <vt:lpstr>Computer Communication &amp; Networks</vt:lpstr>
      <vt:lpstr>IEEE STANDARDS</vt:lpstr>
      <vt:lpstr>IEEE standard for LANs</vt:lpstr>
      <vt:lpstr>HDLC frame compared with LLC and MAC frames</vt:lpstr>
      <vt:lpstr>STANDARD ETHERNET</vt:lpstr>
      <vt:lpstr>Ethernet evolution through four generations</vt:lpstr>
      <vt:lpstr>802.3 MAC frame</vt:lpstr>
      <vt:lpstr>Minimum and maximum lengths</vt:lpstr>
      <vt:lpstr>PowerPoint Presentation</vt:lpstr>
      <vt:lpstr>Ethernet address in hexadecimal notation</vt:lpstr>
      <vt:lpstr>Unicast and multicast addresses</vt:lpstr>
      <vt:lpstr>PowerPoint Presentation</vt:lpstr>
      <vt:lpstr>Note</vt:lpstr>
      <vt:lpstr>Example Define the type of the following destination addresses:</vt:lpstr>
      <vt:lpstr>Categories of Standard Ethernet</vt:lpstr>
      <vt:lpstr>Encoding in a Standard Ethernet implementation</vt:lpstr>
      <vt:lpstr>10Base5 implementation</vt:lpstr>
      <vt:lpstr>10Base2 implementation</vt:lpstr>
      <vt:lpstr>10Base-T implementation</vt:lpstr>
      <vt:lpstr>Summary of Standard Ethernet implementations</vt:lpstr>
      <vt:lpstr>CHANGES IN THE STANDARD</vt:lpstr>
      <vt:lpstr>Sharing bandwidth</vt:lpstr>
      <vt:lpstr>A network with and without a bridge</vt:lpstr>
      <vt:lpstr>Collision domains in an unbridged network and a bridged network</vt:lpstr>
      <vt:lpstr>Switched Ethernet</vt:lpstr>
      <vt:lpstr>Full-duplex switched Ethernet</vt:lpstr>
      <vt:lpstr>FAST ETHERNET</vt:lpstr>
      <vt:lpstr>Fast Ethernet topology</vt:lpstr>
      <vt:lpstr>Fast Ethernet implementations</vt:lpstr>
      <vt:lpstr>Summary of Fast Ethernet implementations</vt:lpstr>
      <vt:lpstr>GIGABIT ETHERNET</vt:lpstr>
      <vt:lpstr>In the full-duplex mode of Gigabit Ethernet, there is no collision; the maximum length of the cable is determined by the signal attenuation in the cable.</vt:lpstr>
      <vt:lpstr>Topologies of Gigabit Ethernet</vt:lpstr>
      <vt:lpstr>Gigabit Ethernet implementations</vt:lpstr>
      <vt:lpstr>Summary of Gigabit Ethernet implementations</vt:lpstr>
      <vt:lpstr>Summary of Ten-Gigabit Ethernet implementations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Atif Shakeel</dc:creator>
  <cp:lastModifiedBy>Muhammad Ahmad Nawaz Lecturer FCSE</cp:lastModifiedBy>
  <cp:revision>1</cp:revision>
  <dcterms:created xsi:type="dcterms:W3CDTF">2026-02-25T05:18:33Z</dcterms:created>
  <dcterms:modified xsi:type="dcterms:W3CDTF">2026-02-25T15:09:48Z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2012-11-15T00:00:00Z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2026-02-25T00:00:00Z</vt:filetime>
  </property>
  <property fmtid="{D5CDD505-2E9C-101B-9397-08002B2CF9AE}" pid="5" name="Producer">
    <vt:lpwstr>Microsoft® Office PowerPoint® 2007</vt:lpwstr>
  </property>
</Properties>
</file>