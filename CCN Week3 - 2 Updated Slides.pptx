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256" r:id="rId2"/>
    <p:sldId id="289" r:id="rId3"/>
    <p:sldId id="290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1138" r:id="rId16"/>
    <p:sldId id="335" r:id="rId17"/>
    <p:sldId id="336" r:id="rId18"/>
    <p:sldId id="337" r:id="rId19"/>
    <p:sldId id="338" r:id="rId20"/>
    <p:sldId id="341" r:id="rId21"/>
    <p:sldId id="1139" r:id="rId22"/>
    <p:sldId id="1140" r:id="rId23"/>
    <p:sldId id="342" r:id="rId24"/>
    <p:sldId id="344" r:id="rId25"/>
    <p:sldId id="300" r:id="rId26"/>
    <p:sldId id="343" r:id="rId27"/>
    <p:sldId id="297" r:id="rId28"/>
    <p:sldId id="298" r:id="rId29"/>
    <p:sldId id="1142" r:id="rId30"/>
    <p:sldId id="299" r:id="rId31"/>
    <p:sldId id="301" r:id="rId32"/>
    <p:sldId id="302" r:id="rId33"/>
    <p:sldId id="303" r:id="rId34"/>
    <p:sldId id="1176" r:id="rId35"/>
    <p:sldId id="304" r:id="rId36"/>
    <p:sldId id="1143" r:id="rId37"/>
    <p:sldId id="1144" r:id="rId38"/>
    <p:sldId id="1145" r:id="rId39"/>
    <p:sldId id="1177" r:id="rId40"/>
    <p:sldId id="305" r:id="rId41"/>
    <p:sldId id="306" r:id="rId42"/>
    <p:sldId id="1178" r:id="rId43"/>
    <p:sldId id="307" r:id="rId44"/>
    <p:sldId id="308" r:id="rId45"/>
    <p:sldId id="1146" r:id="rId46"/>
    <p:sldId id="1148" r:id="rId47"/>
    <p:sldId id="1149" r:id="rId48"/>
    <p:sldId id="1137" r:id="rId49"/>
    <p:sldId id="1150" r:id="rId50"/>
    <p:sldId id="1151" r:id="rId51"/>
    <p:sldId id="1175" r:id="rId52"/>
    <p:sldId id="310" r:id="rId53"/>
    <p:sldId id="311" r:id="rId54"/>
    <p:sldId id="309" r:id="rId55"/>
    <p:sldId id="1152" r:id="rId56"/>
    <p:sldId id="1168" r:id="rId57"/>
    <p:sldId id="1169" r:id="rId58"/>
    <p:sldId id="1170" r:id="rId59"/>
    <p:sldId id="1171" r:id="rId60"/>
    <p:sldId id="1172" r:id="rId61"/>
    <p:sldId id="312" r:id="rId62"/>
    <p:sldId id="313" r:id="rId63"/>
    <p:sldId id="314" r:id="rId64"/>
    <p:sldId id="315" r:id="rId65"/>
    <p:sldId id="1173" r:id="rId66"/>
    <p:sldId id="1174" r:id="rId67"/>
    <p:sldId id="339" r:id="rId68"/>
    <p:sldId id="340" r:id="rId69"/>
    <p:sldId id="292" r:id="rId70"/>
    <p:sldId id="296" r:id="rId71"/>
    <p:sldId id="293" r:id="rId72"/>
    <p:sldId id="295" r:id="rId73"/>
    <p:sldId id="294" r:id="rId7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A2DD0-72CE-4ECB-BA85-8DD880770B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79057-09E1-4715-8045-82F70F640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1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960CE36-3D02-42D1-B644-8A8D4309AB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1C0D6C-A79A-48E6-914B-F834B5671C4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02935D6F-47F5-4A16-84CA-DE3537AEEE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73A2BAC1-30DC-431F-B5AC-2882FD593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9A7A521-2226-4BFF-BC29-4E2FE4ECC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7B2A17-9EAB-4947-BE72-A35AEDEB172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50857CAF-B942-471F-A453-DF91E50A2A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EC116B9E-E02E-4E96-8C17-81F56E93A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9FF0884-70CC-4AAD-9ABD-DC1B3118A2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B70E95-C473-4F8F-BC11-41F07D82423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841072FC-8BE0-4397-A0BF-385B1DD981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3E0D41F7-E374-488B-B8BA-E07383FF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9EB92C-5979-4218-AA7A-78B3F5DA9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3337BC-DA22-41D4-BA45-40935EF1244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CD07F237-B21B-4BBE-A5BC-81DE4A1850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A07034D5-CBFF-4742-935A-6E1FC6DF8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3B4124-B8A0-40BF-9374-2CF924361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5F265B-9928-4DF6-AB3B-C0185611227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EFD06ADF-7FBF-4D83-8ACD-8EA1C962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95A736A8-9427-4549-9286-89346466A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6B96E5-D708-477D-A73C-9242C16327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81151-B35E-4D16-BD78-574AAE6D848A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5D419370-0A7F-425A-8F8C-027178A5C9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F7357C74-6E81-4AEA-BDC2-130C27A7E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217682B-D26B-4E4E-9CC3-3AFC9C38C3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B2745C-009B-4AAB-A659-AE2FF89CAB4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AEB350A5-88BD-4112-9E11-7C2CABE8D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CC5A4F49-A40D-4073-9462-17B627273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C42723-C5A6-4811-8169-769EB53B7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CED21-ABB7-43C4-94AA-03C17DF9AFE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76802B10-A6F5-404B-AD58-F95FE1579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E3B04EEE-B5E4-4325-B756-EC26B92ED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075F947-D5B3-4AE8-9061-1A221432F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57174C-0AF3-4954-A623-BB9AD1630B9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BDF049C5-171F-43F1-8E47-C279A15FD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D17422A0-74F8-434B-B17F-85E2D325E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3F07FAC-79DC-4F7C-9739-1CAF177BE1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61AB24-C5E9-4796-A63E-EAA221A5C6F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9DE01032-D046-4FED-96ED-E685119B4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825E99F0-8D5D-4FBF-9750-27B7955EEF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250941-7187-4723-B8C6-F0664C7E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9BE5DB-B2A8-4B22-9159-64F36680408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734716E5-AB79-427A-A9C3-6EF57ACE71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AA832A36-8774-472D-8D93-9F136DF8A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9F7B66C-7B79-4AA6-94B7-E0E3B25908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6EFEC2-F884-4DB9-8A58-36450F5A751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0AF6BB88-DB7F-4FC5-8FCB-EF6759BA0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6D1BEE1F-E643-4ACB-A95E-26BF2AC9A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6589ACA-C8FD-4245-9009-E4BE1B51C4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F0CF2D-31DE-49CE-A0C5-26F11B8C709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540994D6-FAA4-4B7B-B3D8-63C249824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4994221F-7BF0-47C4-B570-B6C1C7F70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15A14D-4F1A-43D4-8007-1F245B254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88F780-0D29-4360-A1CF-3DBD54DD440A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E5B059A8-4BC4-4082-8CE9-E702FDD0A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6181EE28-DCE6-4770-840B-E1A5B073A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CA6A55D-E543-4313-BCD8-0351CF3BC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C4DFCE-6FB7-4CBC-AFCA-F25A94147E5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4B13BDBE-75A8-4442-8C37-3FB7EE3BC5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17BE1F5F-44A3-4E2C-91AE-4CC3837A5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2670A6D1-6FE2-40F8-9945-3500F9703F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FB2D2004-CD01-4243-ABAA-E4B3A7E702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4FDF390C-A604-4BB0-9E3B-AF5515DA5A39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4" name="Rectangle 6">
            <a:extLst>
              <a:ext uri="{FF2B5EF4-FFF2-40B4-BE49-F238E27FC236}">
                <a16:creationId xmlns:a16="http://schemas.microsoft.com/office/drawing/2014/main" id="{4F0104C0-7CEE-4496-AC4D-01DE33C357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45" name="Rectangle 7">
            <a:extLst>
              <a:ext uri="{FF2B5EF4-FFF2-40B4-BE49-F238E27FC236}">
                <a16:creationId xmlns:a16="http://schemas.microsoft.com/office/drawing/2014/main" id="{EC91E130-49ED-4787-BAF2-3A0861AFA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CC5EE82-3976-47D6-B6D7-E0EB91459D90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6" name="Rectangle 2">
            <a:extLst>
              <a:ext uri="{FF2B5EF4-FFF2-40B4-BE49-F238E27FC236}">
                <a16:creationId xmlns:a16="http://schemas.microsoft.com/office/drawing/2014/main" id="{A016F4FF-448C-4DCD-AD2B-57DEA0F6F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7" name="Rectangle 3">
            <a:extLst>
              <a:ext uri="{FF2B5EF4-FFF2-40B4-BE49-F238E27FC236}">
                <a16:creationId xmlns:a16="http://schemas.microsoft.com/office/drawing/2014/main" id="{A8DB8D30-D591-4BE9-A0E7-7AE0E7AC0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2670A6D1-6FE2-40F8-9945-3500F9703F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FB2D2004-CD01-4243-ABAA-E4B3A7E702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4FDF390C-A604-4BB0-9E3B-AF5515DA5A39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4" name="Rectangle 6">
            <a:extLst>
              <a:ext uri="{FF2B5EF4-FFF2-40B4-BE49-F238E27FC236}">
                <a16:creationId xmlns:a16="http://schemas.microsoft.com/office/drawing/2014/main" id="{4F0104C0-7CEE-4496-AC4D-01DE33C357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45" name="Rectangle 7">
            <a:extLst>
              <a:ext uri="{FF2B5EF4-FFF2-40B4-BE49-F238E27FC236}">
                <a16:creationId xmlns:a16="http://schemas.microsoft.com/office/drawing/2014/main" id="{EC91E130-49ED-4787-BAF2-3A0861AFA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CC5EE82-3976-47D6-B6D7-E0EB91459D90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6" name="Rectangle 2">
            <a:extLst>
              <a:ext uri="{FF2B5EF4-FFF2-40B4-BE49-F238E27FC236}">
                <a16:creationId xmlns:a16="http://schemas.microsoft.com/office/drawing/2014/main" id="{A016F4FF-448C-4DCD-AD2B-57DEA0F6F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7" name="Rectangle 3">
            <a:extLst>
              <a:ext uri="{FF2B5EF4-FFF2-40B4-BE49-F238E27FC236}">
                <a16:creationId xmlns:a16="http://schemas.microsoft.com/office/drawing/2014/main" id="{A8DB8D30-D591-4BE9-A0E7-7AE0E7AC0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72866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2670A6D1-6FE2-40F8-9945-3500F9703F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FB2D2004-CD01-4243-ABAA-E4B3A7E702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4FDF390C-A604-4BB0-9E3B-AF5515DA5A39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4" name="Rectangle 6">
            <a:extLst>
              <a:ext uri="{FF2B5EF4-FFF2-40B4-BE49-F238E27FC236}">
                <a16:creationId xmlns:a16="http://schemas.microsoft.com/office/drawing/2014/main" id="{4F0104C0-7CEE-4496-AC4D-01DE33C357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45" name="Rectangle 7">
            <a:extLst>
              <a:ext uri="{FF2B5EF4-FFF2-40B4-BE49-F238E27FC236}">
                <a16:creationId xmlns:a16="http://schemas.microsoft.com/office/drawing/2014/main" id="{EC91E130-49ED-4787-BAF2-3A0861AFA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CC5EE82-3976-47D6-B6D7-E0EB91459D90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46" name="Rectangle 2">
            <a:extLst>
              <a:ext uri="{FF2B5EF4-FFF2-40B4-BE49-F238E27FC236}">
                <a16:creationId xmlns:a16="http://schemas.microsoft.com/office/drawing/2014/main" id="{A016F4FF-448C-4DCD-AD2B-57DEA0F6F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7" name="Rectangle 3">
            <a:extLst>
              <a:ext uri="{FF2B5EF4-FFF2-40B4-BE49-F238E27FC236}">
                <a16:creationId xmlns:a16="http://schemas.microsoft.com/office/drawing/2014/main" id="{A8DB8D30-D591-4BE9-A0E7-7AE0E7AC0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20314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6393035A-CDF4-4E80-BAB7-02EA773C50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D404FF44-2893-43C1-8BA5-D37F6CABE7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5C52AE1-ADB5-4B42-918B-5791D7FD66AE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4868" name="Rectangle 6">
            <a:extLst>
              <a:ext uri="{FF2B5EF4-FFF2-40B4-BE49-F238E27FC236}">
                <a16:creationId xmlns:a16="http://schemas.microsoft.com/office/drawing/2014/main" id="{6A6DCF2D-BF57-496C-8187-7AEE7AD3A5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4869" name="Rectangle 7">
            <a:extLst>
              <a:ext uri="{FF2B5EF4-FFF2-40B4-BE49-F238E27FC236}">
                <a16:creationId xmlns:a16="http://schemas.microsoft.com/office/drawing/2014/main" id="{AFA7A58C-0066-47C1-AF69-4291A8A6F3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DD2A5CA8-15B2-442F-9523-73E2B302C4D9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B0253155-937F-4258-8EFF-B1F360C3F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>
            <a:extLst>
              <a:ext uri="{FF2B5EF4-FFF2-40B4-BE49-F238E27FC236}">
                <a16:creationId xmlns:a16="http://schemas.microsoft.com/office/drawing/2014/main" id="{1C9C7D3B-8AF2-4A4E-91F8-551C3E27C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A199B792-B84F-49C3-BD82-6221AEE890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9E8D2A66-7789-4347-9D21-47E7304FC0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9C69ED3-5281-4A30-9246-3AFEE263E338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6916" name="Rectangle 6">
            <a:extLst>
              <a:ext uri="{FF2B5EF4-FFF2-40B4-BE49-F238E27FC236}">
                <a16:creationId xmlns:a16="http://schemas.microsoft.com/office/drawing/2014/main" id="{B5C57B1C-3F01-4241-9578-B7778E0677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6917" name="Rectangle 7">
            <a:extLst>
              <a:ext uri="{FF2B5EF4-FFF2-40B4-BE49-F238E27FC236}">
                <a16:creationId xmlns:a16="http://schemas.microsoft.com/office/drawing/2014/main" id="{74FEE61E-830D-4EE0-B2A2-3B2776208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BDC8BF3E-B47E-4551-926A-44B54BF527D3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6918" name="Rectangle 2">
            <a:extLst>
              <a:ext uri="{FF2B5EF4-FFF2-40B4-BE49-F238E27FC236}">
                <a16:creationId xmlns:a16="http://schemas.microsoft.com/office/drawing/2014/main" id="{41A20285-7C8C-4AB7-8047-972AC0F7E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9" name="Rectangle 3">
            <a:extLst>
              <a:ext uri="{FF2B5EF4-FFF2-40B4-BE49-F238E27FC236}">
                <a16:creationId xmlns:a16="http://schemas.microsoft.com/office/drawing/2014/main" id="{486F9CF7-DD61-457F-B53F-877B25B7F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AE7B9363-FF7D-4F73-A671-2B59A8FB71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C193CA25-5482-4BF2-A027-D5DA3CD5267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D49B46DB-5D26-475A-AEB4-DF67355FCD65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8964" name="Rectangle 6">
            <a:extLst>
              <a:ext uri="{FF2B5EF4-FFF2-40B4-BE49-F238E27FC236}">
                <a16:creationId xmlns:a16="http://schemas.microsoft.com/office/drawing/2014/main" id="{AD3BFF6B-B249-43F5-9C56-091E37B02A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8965" name="Rectangle 7">
            <a:extLst>
              <a:ext uri="{FF2B5EF4-FFF2-40B4-BE49-F238E27FC236}">
                <a16:creationId xmlns:a16="http://schemas.microsoft.com/office/drawing/2014/main" id="{30320877-3057-4174-9420-7009D7AE6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150876E8-0DB8-4584-A2C4-C11425D5C1CE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8966" name="Rectangle 2">
            <a:extLst>
              <a:ext uri="{FF2B5EF4-FFF2-40B4-BE49-F238E27FC236}">
                <a16:creationId xmlns:a16="http://schemas.microsoft.com/office/drawing/2014/main" id="{C33906E0-B34F-47A4-9EE7-0CFCA34F54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7" name="Rectangle 3">
            <a:extLst>
              <a:ext uri="{FF2B5EF4-FFF2-40B4-BE49-F238E27FC236}">
                <a16:creationId xmlns:a16="http://schemas.microsoft.com/office/drawing/2014/main" id="{148F8049-B0C8-4A1F-A669-B225335B7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2F02E8B1-10C6-462F-8640-C999BFA357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486C05B3-DE32-4541-A14A-B1C2CE2B2C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AE3A4174-81B3-4715-8978-711E7B529C3D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5892" name="Rectangle 6">
            <a:extLst>
              <a:ext uri="{FF2B5EF4-FFF2-40B4-BE49-F238E27FC236}">
                <a16:creationId xmlns:a16="http://schemas.microsoft.com/office/drawing/2014/main" id="{03AFCC20-A250-42FC-A608-922C07D6B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5893" name="Rectangle 7">
            <a:extLst>
              <a:ext uri="{FF2B5EF4-FFF2-40B4-BE49-F238E27FC236}">
                <a16:creationId xmlns:a16="http://schemas.microsoft.com/office/drawing/2014/main" id="{3706E309-3373-4A7D-A9ED-13D609889A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5CCD9A02-0EB6-4D70-B33B-C11BEA763A5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5894" name="Rectangle 2">
            <a:extLst>
              <a:ext uri="{FF2B5EF4-FFF2-40B4-BE49-F238E27FC236}">
                <a16:creationId xmlns:a16="http://schemas.microsoft.com/office/drawing/2014/main" id="{C2C2BFB5-0F8A-4072-A994-FE16A1B41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5" name="Rectangle 3">
            <a:extLst>
              <a:ext uri="{FF2B5EF4-FFF2-40B4-BE49-F238E27FC236}">
                <a16:creationId xmlns:a16="http://schemas.microsoft.com/office/drawing/2014/main" id="{BF18A49C-8FA3-4EF4-B809-3A2F4F092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DC9D56CB-EF97-43C8-8F7F-3BE2A4A8E4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7BE8CF53-36C9-4B0D-8971-9FB6E2F58A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068E6253-CD7D-445B-A0EB-8D442ED0ADC5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7940" name="Rectangle 6">
            <a:extLst>
              <a:ext uri="{FF2B5EF4-FFF2-40B4-BE49-F238E27FC236}">
                <a16:creationId xmlns:a16="http://schemas.microsoft.com/office/drawing/2014/main" id="{A68C2239-65A1-4F7E-8971-B66B8DAAA6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7941" name="Rectangle 7">
            <a:extLst>
              <a:ext uri="{FF2B5EF4-FFF2-40B4-BE49-F238E27FC236}">
                <a16:creationId xmlns:a16="http://schemas.microsoft.com/office/drawing/2014/main" id="{6A2C443D-32AF-42FD-A026-6401A041D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1B02DFDE-D57E-48D9-B3D1-9B345406DFE4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7942" name="Rectangle 2">
            <a:extLst>
              <a:ext uri="{FF2B5EF4-FFF2-40B4-BE49-F238E27FC236}">
                <a16:creationId xmlns:a16="http://schemas.microsoft.com/office/drawing/2014/main" id="{F8CC258C-4F11-4DA1-9571-314F546C4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3" name="Rectangle 3">
            <a:extLst>
              <a:ext uri="{FF2B5EF4-FFF2-40B4-BE49-F238E27FC236}">
                <a16:creationId xmlns:a16="http://schemas.microsoft.com/office/drawing/2014/main" id="{FF043E2D-9EAD-4282-AAB7-1D2A3985D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2F02E8B1-10C6-462F-8640-C999BFA357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486C05B3-DE32-4541-A14A-B1C2CE2B2C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AE3A4174-81B3-4715-8978-711E7B529C3D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5892" name="Rectangle 6">
            <a:extLst>
              <a:ext uri="{FF2B5EF4-FFF2-40B4-BE49-F238E27FC236}">
                <a16:creationId xmlns:a16="http://schemas.microsoft.com/office/drawing/2014/main" id="{03AFCC20-A250-42FC-A608-922C07D6B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5893" name="Rectangle 7">
            <a:extLst>
              <a:ext uri="{FF2B5EF4-FFF2-40B4-BE49-F238E27FC236}">
                <a16:creationId xmlns:a16="http://schemas.microsoft.com/office/drawing/2014/main" id="{3706E309-3373-4A7D-A9ED-13D609889A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5CCD9A02-0EB6-4D70-B33B-C11BEA763A52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5894" name="Rectangle 2">
            <a:extLst>
              <a:ext uri="{FF2B5EF4-FFF2-40B4-BE49-F238E27FC236}">
                <a16:creationId xmlns:a16="http://schemas.microsoft.com/office/drawing/2014/main" id="{C2C2BFB5-0F8A-4072-A994-FE16A1B41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5" name="Rectangle 3">
            <a:extLst>
              <a:ext uri="{FF2B5EF4-FFF2-40B4-BE49-F238E27FC236}">
                <a16:creationId xmlns:a16="http://schemas.microsoft.com/office/drawing/2014/main" id="{BF18A49C-8FA3-4EF4-B809-3A2F4F092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59015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368D535E-5A4A-43A5-8876-D99A6CABD6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B497FD92-6DA5-497B-92DE-84067D7D45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97B20CE2-8AAB-461C-A45A-2F808FF8CA0A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9988" name="Rectangle 6">
            <a:extLst>
              <a:ext uri="{FF2B5EF4-FFF2-40B4-BE49-F238E27FC236}">
                <a16:creationId xmlns:a16="http://schemas.microsoft.com/office/drawing/2014/main" id="{9F3CF0EC-5BA9-42F6-88B3-76558EDD4A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9989" name="Rectangle 7">
            <a:extLst>
              <a:ext uri="{FF2B5EF4-FFF2-40B4-BE49-F238E27FC236}">
                <a16:creationId xmlns:a16="http://schemas.microsoft.com/office/drawing/2014/main" id="{B43A7054-E9E4-42A6-AE27-539C3DC0C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FBE056D0-E915-4F13-B36D-8D18CFD0F1A9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9990" name="Rectangle 2">
            <a:extLst>
              <a:ext uri="{FF2B5EF4-FFF2-40B4-BE49-F238E27FC236}">
                <a16:creationId xmlns:a16="http://schemas.microsoft.com/office/drawing/2014/main" id="{FA9CF8F2-08A3-4E83-BD89-8A87F6F1B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91" name="Rectangle 3">
            <a:extLst>
              <a:ext uri="{FF2B5EF4-FFF2-40B4-BE49-F238E27FC236}">
                <a16:creationId xmlns:a16="http://schemas.microsoft.com/office/drawing/2014/main" id="{93F533AD-C5AF-4F43-BA9F-84D8CB802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3FE3061E-E97E-4F4C-9E6D-A8CF7327A7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7BC6C02F-CDC4-4836-AE1A-8A6E390168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7CE61DBC-F82A-409B-AA65-4B1F9C11EB3C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1012" name="Rectangle 6">
            <a:extLst>
              <a:ext uri="{FF2B5EF4-FFF2-40B4-BE49-F238E27FC236}">
                <a16:creationId xmlns:a16="http://schemas.microsoft.com/office/drawing/2014/main" id="{CC902B43-C20D-4D8D-8433-3CCED511E5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1013" name="Rectangle 7">
            <a:extLst>
              <a:ext uri="{FF2B5EF4-FFF2-40B4-BE49-F238E27FC236}">
                <a16:creationId xmlns:a16="http://schemas.microsoft.com/office/drawing/2014/main" id="{ACA4B717-4122-4861-BAE1-13010C7A42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9B0AB3FB-9E1F-4744-A4D8-57C25F7DD327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1014" name="Rectangle 2">
            <a:extLst>
              <a:ext uri="{FF2B5EF4-FFF2-40B4-BE49-F238E27FC236}">
                <a16:creationId xmlns:a16="http://schemas.microsoft.com/office/drawing/2014/main" id="{4F7057B8-268F-44E4-AD75-3497E0AA47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5" name="Rectangle 3">
            <a:extLst>
              <a:ext uri="{FF2B5EF4-FFF2-40B4-BE49-F238E27FC236}">
                <a16:creationId xmlns:a16="http://schemas.microsoft.com/office/drawing/2014/main" id="{BD553A3F-ECA6-4ED0-BB9B-762573EEB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2A17236-55C3-4295-855A-FE797EDAA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4C290E3-2CD2-4E45-8B2B-F909547C33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68FF2E6-04D9-4741-857D-9A020EECD18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F4B51380-C53C-4B38-9EE5-5FFC78C773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93C56425-056B-4F3C-ADBB-8EED04EB6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3EB35D13-5E9C-4D02-BEF4-BEC166D8D1FC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57D7A21E-0D4C-464F-B230-F1DBFDCA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798835AA-4691-4A30-9AF1-A178790F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2A17236-55C3-4295-855A-FE797EDAA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4C290E3-2CD2-4E45-8B2B-F909547C33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68FF2E6-04D9-4741-857D-9A020EECD18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F4B51380-C53C-4B38-9EE5-5FFC78C773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93C56425-056B-4F3C-ADBB-8EED04EB6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3EB35D13-5E9C-4D02-BEF4-BEC166D8D1FC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57D7A21E-0D4C-464F-B230-F1DBFDCA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798835AA-4691-4A30-9AF1-A178790F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11893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2A17236-55C3-4295-855A-FE797EDAA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4C290E3-2CD2-4E45-8B2B-F909547C33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68FF2E6-04D9-4741-857D-9A020EECD18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F4B51380-C53C-4B38-9EE5-5FFC78C773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93C56425-056B-4F3C-ADBB-8EED04EB6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3EB35D13-5E9C-4D02-BEF4-BEC166D8D1FC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57D7A21E-0D4C-464F-B230-F1DBFDCA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798835AA-4691-4A30-9AF1-A178790F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82943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2A17236-55C3-4295-855A-FE797EDAA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4C290E3-2CD2-4E45-8B2B-F909547C33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68FF2E6-04D9-4741-857D-9A020EECD18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F4B51380-C53C-4B38-9EE5-5FFC78C773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93C56425-056B-4F3C-ADBB-8EED04EB6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3EB35D13-5E9C-4D02-BEF4-BEC166D8D1FC}" type="slidenum">
              <a:rPr lang="en-US" altLang="en-US" sz="1300">
                <a:latin typeface="Times New Roman" panose="02020603050405020304" pitchFamily="18" charset="0"/>
              </a:rPr>
              <a:pPr/>
              <a:t>38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57D7A21E-0D4C-464F-B230-F1DBFDCA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798835AA-4691-4A30-9AF1-A178790F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067656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65892664-6159-4FB5-92E5-E399DD7500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8E93ABEB-5FC3-407A-93AF-A43FBE04EED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0D3681C7-EB9B-44A1-A15D-9E880D69B9A1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3060" name="Rectangle 6">
            <a:extLst>
              <a:ext uri="{FF2B5EF4-FFF2-40B4-BE49-F238E27FC236}">
                <a16:creationId xmlns:a16="http://schemas.microsoft.com/office/drawing/2014/main" id="{7D802CD9-28BD-4A55-844B-77E2A60B02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3061" name="Rectangle 7">
            <a:extLst>
              <a:ext uri="{FF2B5EF4-FFF2-40B4-BE49-F238E27FC236}">
                <a16:creationId xmlns:a16="http://schemas.microsoft.com/office/drawing/2014/main" id="{AB6741EC-D15E-48CF-BC18-89CEFA16E2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DF03FF3F-D0AF-4D18-84DE-FFDAB8E3A909}" type="slidenum">
              <a:rPr lang="en-US" altLang="en-US" sz="1300">
                <a:latin typeface="Times New Roman" panose="02020603050405020304" pitchFamily="18" charset="0"/>
              </a:rPr>
              <a:pPr/>
              <a:t>40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3062" name="Rectangle 2">
            <a:extLst>
              <a:ext uri="{FF2B5EF4-FFF2-40B4-BE49-F238E27FC236}">
                <a16:creationId xmlns:a16="http://schemas.microsoft.com/office/drawing/2014/main" id="{55FD0932-69B1-4DE7-B111-96408E5F43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3" name="Rectangle 3">
            <a:extLst>
              <a:ext uri="{FF2B5EF4-FFF2-40B4-BE49-F238E27FC236}">
                <a16:creationId xmlns:a16="http://schemas.microsoft.com/office/drawing/2014/main" id="{FF87FFCB-F3C3-4472-896C-411982F3B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58322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E46F4B17-8AA6-4E9E-89DD-B3C6F29D12A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81448DBC-CEEA-4C24-B743-9DB3D35CF5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15F06E59-E11E-4C56-BB45-50BC8DED4B2F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20656B72-49B9-4F8C-9945-2B45EDAF84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1E241797-F8E1-4538-BD9A-C18426B09F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09549756-4150-42D5-8FE5-74F00A437164}" type="slidenum">
              <a:rPr lang="en-US" altLang="en-US" sz="1300">
                <a:latin typeface="Times New Roman" panose="02020603050405020304" pitchFamily="18" charset="0"/>
              </a:rPr>
              <a:pPr/>
              <a:t>41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845D113B-F24B-4293-9860-04A430C2EE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7668DA0F-8150-47C5-91C8-1FC07F2E5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6787189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24F1C3EB-B02C-4B12-8B7C-02DEE91981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D7313C82-CF27-4FD7-8762-0A4EF7C269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8D7DC5A3-E880-4EF4-93B6-B10CB09AB3F9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5108" name="Rectangle 6">
            <a:extLst>
              <a:ext uri="{FF2B5EF4-FFF2-40B4-BE49-F238E27FC236}">
                <a16:creationId xmlns:a16="http://schemas.microsoft.com/office/drawing/2014/main" id="{A8151824-89F5-41F7-AEA5-FE2DF504E1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5109" name="Rectangle 7">
            <a:extLst>
              <a:ext uri="{FF2B5EF4-FFF2-40B4-BE49-F238E27FC236}">
                <a16:creationId xmlns:a16="http://schemas.microsoft.com/office/drawing/2014/main" id="{EAE2F3DE-9871-4D95-A3A0-A6ACFC02BB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DD11C075-7D3E-4899-9C2E-F3D8A44BB447}" type="slidenum">
              <a:rPr lang="en-US" altLang="en-US" sz="1300">
                <a:latin typeface="Times New Roman" panose="02020603050405020304" pitchFamily="18" charset="0"/>
              </a:rPr>
              <a:pPr/>
              <a:t>43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5110" name="Rectangle 2">
            <a:extLst>
              <a:ext uri="{FF2B5EF4-FFF2-40B4-BE49-F238E27FC236}">
                <a16:creationId xmlns:a16="http://schemas.microsoft.com/office/drawing/2014/main" id="{2E871545-F413-4882-B13C-B49C55CFC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11" name="Rectangle 3">
            <a:extLst>
              <a:ext uri="{FF2B5EF4-FFF2-40B4-BE49-F238E27FC236}">
                <a16:creationId xmlns:a16="http://schemas.microsoft.com/office/drawing/2014/main" id="{0BE6EA08-AC6A-45F2-9B0B-49E649F32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973782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CD2B88A5-AD7F-4495-B038-8942682BA0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AB08CCC9-703C-4A07-93B2-0BCCAC88DF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12516A2-8369-4E07-A2BB-2EBC5EA0F5AA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6132" name="Rectangle 6">
            <a:extLst>
              <a:ext uri="{FF2B5EF4-FFF2-40B4-BE49-F238E27FC236}">
                <a16:creationId xmlns:a16="http://schemas.microsoft.com/office/drawing/2014/main" id="{0E6539CF-807F-4BEC-A366-052E919151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6133" name="Rectangle 7">
            <a:extLst>
              <a:ext uri="{FF2B5EF4-FFF2-40B4-BE49-F238E27FC236}">
                <a16:creationId xmlns:a16="http://schemas.microsoft.com/office/drawing/2014/main" id="{ACD79809-D478-4F06-BD9C-20B4BE3373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984A3B1F-14D2-4145-A99D-70A9FBC98050}" type="slidenum">
              <a:rPr lang="en-US" altLang="en-US" sz="1300">
                <a:latin typeface="Times New Roman" panose="02020603050405020304" pitchFamily="18" charset="0"/>
              </a:rPr>
              <a:pPr/>
              <a:t>44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6134" name="Rectangle 2">
            <a:extLst>
              <a:ext uri="{FF2B5EF4-FFF2-40B4-BE49-F238E27FC236}">
                <a16:creationId xmlns:a16="http://schemas.microsoft.com/office/drawing/2014/main" id="{62258C68-3D99-4279-9494-B2CE4C43AF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5" name="Rectangle 3">
            <a:extLst>
              <a:ext uri="{FF2B5EF4-FFF2-40B4-BE49-F238E27FC236}">
                <a16:creationId xmlns:a16="http://schemas.microsoft.com/office/drawing/2014/main" id="{56AA843F-CE2E-4D45-B43C-5D7D87083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595144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2A17236-55C3-4295-855A-FE797EDAAC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4C290E3-2CD2-4E45-8B2B-F909547C33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68FF2E6-04D9-4741-857D-9A020EECD18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F4B51380-C53C-4B38-9EE5-5FFC78C773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93C56425-056B-4F3C-ADBB-8EED04EB6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3EB35D13-5E9C-4D02-BEF4-BEC166D8D1FC}" type="slidenum">
              <a:rPr lang="en-US" altLang="en-US" sz="1300">
                <a:latin typeface="Times New Roman" panose="02020603050405020304" pitchFamily="18" charset="0"/>
              </a:rPr>
              <a:pPr/>
              <a:t>45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57D7A21E-0D4C-464F-B230-F1DBFDCA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798835AA-4691-4A30-9AF1-A178790F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337635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552735AA-5D0A-4FC7-9900-58071898D7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F3956D6-52EC-427C-B4C6-5F0A61F2AD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54E332F-A269-4A72-92B9-A4562DADB9E2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7156" name="Rectangle 6">
            <a:extLst>
              <a:ext uri="{FF2B5EF4-FFF2-40B4-BE49-F238E27FC236}">
                <a16:creationId xmlns:a16="http://schemas.microsoft.com/office/drawing/2014/main" id="{6EAF2483-5B96-47F1-AEB7-63E3B55B3F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7157" name="Rectangle 7">
            <a:extLst>
              <a:ext uri="{FF2B5EF4-FFF2-40B4-BE49-F238E27FC236}">
                <a16:creationId xmlns:a16="http://schemas.microsoft.com/office/drawing/2014/main" id="{6C81FB82-0384-4A6E-ACF3-068876C8E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E1F644BA-3850-436B-A929-68584203CB5D}" type="slidenum">
              <a:rPr lang="en-US" altLang="en-US" sz="1300">
                <a:latin typeface="Times New Roman" panose="02020603050405020304" pitchFamily="18" charset="0"/>
              </a:rPr>
              <a:pPr/>
              <a:t>52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7158" name="Rectangle 2">
            <a:extLst>
              <a:ext uri="{FF2B5EF4-FFF2-40B4-BE49-F238E27FC236}">
                <a16:creationId xmlns:a16="http://schemas.microsoft.com/office/drawing/2014/main" id="{3EAF69AA-2CBB-4FAB-8472-F45781180E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9" name="Rectangle 3">
            <a:extLst>
              <a:ext uri="{FF2B5EF4-FFF2-40B4-BE49-F238E27FC236}">
                <a16:creationId xmlns:a16="http://schemas.microsoft.com/office/drawing/2014/main" id="{3306391F-5520-482A-9E55-269B52775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83F86E95-EB6B-401F-A1B0-0DF62710A4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C1698AFB-FEFD-4B6F-9A44-68C7A93232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F27438EC-948C-4C27-B39E-A139FBB4BE68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8180" name="Rectangle 6">
            <a:extLst>
              <a:ext uri="{FF2B5EF4-FFF2-40B4-BE49-F238E27FC236}">
                <a16:creationId xmlns:a16="http://schemas.microsoft.com/office/drawing/2014/main" id="{05C39760-FF33-4A66-9AA4-428D734AEE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8181" name="Rectangle 7">
            <a:extLst>
              <a:ext uri="{FF2B5EF4-FFF2-40B4-BE49-F238E27FC236}">
                <a16:creationId xmlns:a16="http://schemas.microsoft.com/office/drawing/2014/main" id="{B184A37E-6C45-4D97-8931-673CDA8B19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10DA38BA-BF58-475E-A7D1-5B6F59DF7D41}" type="slidenum">
              <a:rPr lang="en-US" altLang="en-US" sz="1300">
                <a:latin typeface="Times New Roman" panose="02020603050405020304" pitchFamily="18" charset="0"/>
              </a:rPr>
              <a:pPr/>
              <a:t>53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8182" name="Rectangle 2">
            <a:extLst>
              <a:ext uri="{FF2B5EF4-FFF2-40B4-BE49-F238E27FC236}">
                <a16:creationId xmlns:a16="http://schemas.microsoft.com/office/drawing/2014/main" id="{AB8A20EF-5285-4F29-A432-AD1445644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3" name="Rectangle 3">
            <a:extLst>
              <a:ext uri="{FF2B5EF4-FFF2-40B4-BE49-F238E27FC236}">
                <a16:creationId xmlns:a16="http://schemas.microsoft.com/office/drawing/2014/main" id="{B52982E2-2659-478E-980D-488D24A69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2090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9457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7416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12938EC5-81B3-4665-B003-CD95EA92CE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DA4329AD-A3BA-4EC5-84D4-7DACD089AA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CB1E8E9F-657B-48E9-9B1F-93B15577D88A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9204" name="Rectangle 6">
            <a:extLst>
              <a:ext uri="{FF2B5EF4-FFF2-40B4-BE49-F238E27FC236}">
                <a16:creationId xmlns:a16="http://schemas.microsoft.com/office/drawing/2014/main" id="{0524C1AC-A78C-4FF0-A74F-C62EB83D96A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79205" name="Rectangle 7">
            <a:extLst>
              <a:ext uri="{FF2B5EF4-FFF2-40B4-BE49-F238E27FC236}">
                <a16:creationId xmlns:a16="http://schemas.microsoft.com/office/drawing/2014/main" id="{D36571C3-593E-4A6F-801E-1A2C0668FD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2DC3443B-AC35-484E-BA01-AE8DC93AF552}" type="slidenum">
              <a:rPr lang="en-US" altLang="en-US" sz="1300">
                <a:latin typeface="Times New Roman" panose="02020603050405020304" pitchFamily="18" charset="0"/>
              </a:rPr>
              <a:pPr/>
              <a:t>61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79206" name="Rectangle 2">
            <a:extLst>
              <a:ext uri="{FF2B5EF4-FFF2-40B4-BE49-F238E27FC236}">
                <a16:creationId xmlns:a16="http://schemas.microsoft.com/office/drawing/2014/main" id="{28476D53-F005-41A9-AC67-B29C5C10E9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7" name="Rectangle 3">
            <a:extLst>
              <a:ext uri="{FF2B5EF4-FFF2-40B4-BE49-F238E27FC236}">
                <a16:creationId xmlns:a16="http://schemas.microsoft.com/office/drawing/2014/main" id="{3676EC05-6086-4632-98B2-4EDEB886C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91B2F8BB-8860-4F19-ABB0-5881D922C8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709F667E-BCDB-474F-BE5F-E2CA1DAF9F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8C1733E8-96F0-4265-92C4-E34B7CB17B3E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0228" name="Rectangle 6">
            <a:extLst>
              <a:ext uri="{FF2B5EF4-FFF2-40B4-BE49-F238E27FC236}">
                <a16:creationId xmlns:a16="http://schemas.microsoft.com/office/drawing/2014/main" id="{22F13A35-C59D-4363-8605-7ECED12DD7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0229" name="Rectangle 7">
            <a:extLst>
              <a:ext uri="{FF2B5EF4-FFF2-40B4-BE49-F238E27FC236}">
                <a16:creationId xmlns:a16="http://schemas.microsoft.com/office/drawing/2014/main" id="{DD5DF6E9-90AD-4AFC-861C-C0958FB30D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80609DB0-25DB-4934-AD35-43E62E1B7F6F}" type="slidenum">
              <a:rPr lang="en-US" altLang="en-US" sz="1300">
                <a:latin typeface="Times New Roman" panose="02020603050405020304" pitchFamily="18" charset="0"/>
              </a:rPr>
              <a:pPr/>
              <a:t>62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0230" name="Rectangle 2">
            <a:extLst>
              <a:ext uri="{FF2B5EF4-FFF2-40B4-BE49-F238E27FC236}">
                <a16:creationId xmlns:a16="http://schemas.microsoft.com/office/drawing/2014/main" id="{9337A647-0E75-443F-81A8-8C3B145D54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31" name="Rectangle 3">
            <a:extLst>
              <a:ext uri="{FF2B5EF4-FFF2-40B4-BE49-F238E27FC236}">
                <a16:creationId xmlns:a16="http://schemas.microsoft.com/office/drawing/2014/main" id="{62B594C4-F2C6-4CBC-ABF4-D1C996608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2A244A3D-F235-4C2F-BCE9-554F3E8E8E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38BC4CA8-C2A4-4ECC-B2AC-30EFEF71DD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AF8CAA4B-93B4-4ED6-983B-775DAB22D190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1252" name="Rectangle 6">
            <a:extLst>
              <a:ext uri="{FF2B5EF4-FFF2-40B4-BE49-F238E27FC236}">
                <a16:creationId xmlns:a16="http://schemas.microsoft.com/office/drawing/2014/main" id="{C75A2BFA-4B3E-403D-976C-1BE0D661B4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1253" name="Rectangle 7">
            <a:extLst>
              <a:ext uri="{FF2B5EF4-FFF2-40B4-BE49-F238E27FC236}">
                <a16:creationId xmlns:a16="http://schemas.microsoft.com/office/drawing/2014/main" id="{9DA36CCC-840F-4248-A94F-A78C03FC2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7E428021-04F3-48CC-9E0B-B7DACF46B63B}" type="slidenum">
              <a:rPr lang="en-US" altLang="en-US" sz="1300">
                <a:latin typeface="Times New Roman" panose="02020603050405020304" pitchFamily="18" charset="0"/>
              </a:rPr>
              <a:pPr/>
              <a:t>63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1254" name="Rectangle 2">
            <a:extLst>
              <a:ext uri="{FF2B5EF4-FFF2-40B4-BE49-F238E27FC236}">
                <a16:creationId xmlns:a16="http://schemas.microsoft.com/office/drawing/2014/main" id="{CEE025C1-B055-4389-8923-8EADDFE05A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5" name="Rectangle 3">
            <a:extLst>
              <a:ext uri="{FF2B5EF4-FFF2-40B4-BE49-F238E27FC236}">
                <a16:creationId xmlns:a16="http://schemas.microsoft.com/office/drawing/2014/main" id="{ACDDA87D-5D51-4514-AD3F-AFFC1BB10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C7E4C209-B937-4DE0-9D94-946EDC9201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9D8B68BF-3DFA-447E-ABBE-96D0F1254A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A9850B57-F41A-4807-BD75-1ECB83EAE37B}" type="datetime3">
              <a:rPr lang="en-US" altLang="en-US" sz="1300" smtClean="0">
                <a:latin typeface="Times New Roman" panose="02020603050405020304" pitchFamily="18" charset="0"/>
              </a:rPr>
              <a:pPr/>
              <a:t>10 February 2026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2276" name="Rectangle 6">
            <a:extLst>
              <a:ext uri="{FF2B5EF4-FFF2-40B4-BE49-F238E27FC236}">
                <a16:creationId xmlns:a16="http://schemas.microsoft.com/office/drawing/2014/main" id="{1D9E1391-0718-40F3-9B59-57184CC1A3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2277" name="Rectangle 7">
            <a:extLst>
              <a:ext uri="{FF2B5EF4-FFF2-40B4-BE49-F238E27FC236}">
                <a16:creationId xmlns:a16="http://schemas.microsoft.com/office/drawing/2014/main" id="{CFE4D257-F090-4653-A59A-7D0702C66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fld id="{96F1E5AB-9916-4170-A11A-9064D4117124}" type="slidenum">
              <a:rPr lang="en-US" altLang="en-US" sz="1300">
                <a:latin typeface="Times New Roman" panose="02020603050405020304" pitchFamily="18" charset="0"/>
              </a:rPr>
              <a:pPr/>
              <a:t>64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2278" name="Rectangle 2">
            <a:extLst>
              <a:ext uri="{FF2B5EF4-FFF2-40B4-BE49-F238E27FC236}">
                <a16:creationId xmlns:a16="http://schemas.microsoft.com/office/drawing/2014/main" id="{DB249A15-864F-4B47-AECC-66EAD5489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9" name="Rectangle 3">
            <a:extLst>
              <a:ext uri="{FF2B5EF4-FFF2-40B4-BE49-F238E27FC236}">
                <a16:creationId xmlns:a16="http://schemas.microsoft.com/office/drawing/2014/main" id="{A8C1CE84-A8A2-48A5-ABD8-46767C2DA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74192E-78DD-4EB6-B777-DD494B3BA2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7325A-C8C1-4E3B-AD02-215F2C129DD2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283650" name="Rectangle 2">
            <a:extLst>
              <a:ext uri="{FF2B5EF4-FFF2-40B4-BE49-F238E27FC236}">
                <a16:creationId xmlns:a16="http://schemas.microsoft.com/office/drawing/2014/main" id="{21284C71-A38D-4781-98A9-4FA61E6209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9A74677B-0960-4C90-AB98-5388928CF1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42B0E58-5E2E-4B33-9612-8795D9DF22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EB9EAF-FD13-4D75-964A-E1284E0997C0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2F031C08-CF42-4F9D-B826-9E7070E2E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F6190DC3-A412-4044-B061-14545EB07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79057-09E1-4715-8045-82F70F64079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16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26539" y="323341"/>
            <a:ext cx="535178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81987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4213" y="1125538"/>
            <a:ext cx="8270875" cy="511175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1072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209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09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516007"/>
            <a:ext cx="2057400" cy="2192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30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610" y="-83565"/>
            <a:ext cx="8018779" cy="1577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8797"/>
            <a:ext cx="8072755" cy="431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23996" y="6372097"/>
            <a:ext cx="2096135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EEE</a:t>
            </a:r>
            <a:r>
              <a:rPr spc="-25" dirty="0"/>
              <a:t> </a:t>
            </a:r>
            <a:r>
              <a:rPr dirty="0"/>
              <a:t>314:</a:t>
            </a:r>
            <a:r>
              <a:rPr spc="-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  <a:r>
              <a:rPr spc="-15" dirty="0"/>
              <a:t> </a:t>
            </a:r>
            <a:r>
              <a:rPr spc="-50" dirty="0"/>
              <a:t>&amp;</a:t>
            </a:r>
          </a:p>
          <a:p>
            <a:pPr marL="635" algn="ctr">
              <a:lnSpc>
                <a:spcPct val="100000"/>
              </a:lnSpc>
            </a:pP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Networks.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7719" y="6463538"/>
            <a:ext cx="2178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995677"/>
            <a:ext cx="8991599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5344" marR="5080" indent="-843280">
              <a:lnSpc>
                <a:spcPct val="100000"/>
              </a:lnSpc>
              <a:spcBef>
                <a:spcPts val="95"/>
              </a:spcBef>
            </a:pPr>
            <a:r>
              <a:rPr lang="en-US" sz="4400" dirty="0">
                <a:latin typeface="Calibri"/>
                <a:cs typeface="Calibri"/>
              </a:rPr>
              <a:t>CE313 COMPUTER </a:t>
            </a:r>
            <a:r>
              <a:rPr sz="4400" spc="-20" dirty="0">
                <a:latin typeface="Calibri"/>
                <a:cs typeface="Calibri"/>
              </a:rPr>
              <a:t>COMMUNICATIONS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13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COMPUTER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NETWORKS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545" rIns="0" bIns="0" rtlCol="0">
            <a:spAutoFit/>
          </a:bodyPr>
          <a:lstStyle/>
          <a:p>
            <a:pPr marL="264541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STANDARDS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185610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Standard </a:t>
            </a:r>
            <a:r>
              <a:rPr sz="3200" spc="-10" dirty="0">
                <a:latin typeface="Calibri"/>
                <a:cs typeface="Calibri"/>
              </a:rPr>
              <a:t>products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5117" y="1607565"/>
            <a:ext cx="60115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95"/>
              </a:spcBef>
              <a:tabLst>
                <a:tab pos="1066800" algn="l"/>
                <a:tab pos="2751455" algn="l"/>
                <a:tab pos="3086735" algn="l"/>
                <a:tab pos="3813175" algn="l"/>
                <a:tab pos="5320030" algn="l"/>
                <a:tab pos="5422265" algn="l"/>
              </a:tabLst>
            </a:pPr>
            <a:r>
              <a:rPr sz="3200" spc="-25" dirty="0">
                <a:latin typeface="Calibri"/>
                <a:cs typeface="Calibri"/>
              </a:rPr>
              <a:t>are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6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necessary	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ensure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that </a:t>
            </a:r>
            <a:r>
              <a:rPr sz="3200" spc="-20" dirty="0">
                <a:latin typeface="Calibri"/>
                <a:cs typeface="Calibri"/>
              </a:rPr>
              <a:t>from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different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manufacturers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5" dirty="0">
                <a:latin typeface="Calibri"/>
                <a:cs typeface="Calibri"/>
              </a:rPr>
              <a:t>can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85084"/>
            <a:ext cx="8071484" cy="27120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Calibri"/>
                <a:cs typeface="Calibri"/>
              </a:rPr>
              <a:t>work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together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expected.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1269365" algn="l"/>
                <a:tab pos="4037965" algn="l"/>
                <a:tab pos="5831205" algn="l"/>
                <a:tab pos="6475095" algn="l"/>
                <a:tab pos="6927850" algn="l"/>
                <a:tab pos="7421245" algn="l"/>
              </a:tabLst>
            </a:pP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Communication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Standards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fall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0" dirty="0">
                <a:latin typeface="Calibri"/>
                <a:cs typeface="Calibri"/>
              </a:rPr>
              <a:t>two </a:t>
            </a:r>
            <a:r>
              <a:rPr sz="3200" spc="-10" dirty="0">
                <a:latin typeface="Calibri"/>
                <a:cs typeface="Calibri"/>
              </a:rPr>
              <a:t>categories.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facto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jure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545" rIns="0" bIns="0" rtlCol="0">
            <a:spAutoFit/>
          </a:bodyPr>
          <a:lstStyle/>
          <a:p>
            <a:pPr marL="81597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STANDARD</a:t>
            </a:r>
            <a:r>
              <a:rPr spc="-175" dirty="0"/>
              <a:t> </a:t>
            </a:r>
            <a:r>
              <a:rPr spc="-25" dirty="0"/>
              <a:t>ORGANIZATIONS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120" cy="431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351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Organization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Standardization (ISO)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101975" algn="l"/>
                <a:tab pos="6939280" algn="l"/>
              </a:tabLst>
            </a:pP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Telecommunication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Union- </a:t>
            </a:r>
            <a:r>
              <a:rPr sz="3200" spc="-30" dirty="0">
                <a:latin typeface="Calibri"/>
                <a:cs typeface="Calibri"/>
              </a:rPr>
              <a:t>Telecommunication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Standards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(ITU-</a:t>
            </a:r>
            <a:r>
              <a:rPr sz="3200" spc="-25" dirty="0">
                <a:latin typeface="Calibri"/>
                <a:cs typeface="Calibri"/>
              </a:rPr>
              <a:t>T)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American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National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Standards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Institute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(ANSI)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Institute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Electrical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Electronics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Engineers (IEEE)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Electronics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Industries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Association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(EIA)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68C5C6-FBB5-4C34-8FDB-319A33A3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B3BB6DCC-CDE1-40A2-9542-F102B3F5D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Layered Tasks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731E490F-93E7-4D81-927B-2BE5409D5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19200"/>
            <a:ext cx="5105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/>
              <a:t>An example from the everyday life</a:t>
            </a:r>
            <a:endParaRPr lang="en-GB" altLang="en-US" sz="2200"/>
          </a:p>
        </p:txBody>
      </p:sp>
      <p:pic>
        <p:nvPicPr>
          <p:cNvPr id="309252" name="Picture 4">
            <a:extLst>
              <a:ext uri="{FF2B5EF4-FFF2-40B4-BE49-F238E27FC236}">
                <a16:creationId xmlns:a16="http://schemas.microsoft.com/office/drawing/2014/main" id="{E837071E-DCFB-4085-A069-4F1E5BA94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76400"/>
            <a:ext cx="5140325" cy="419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253" name="Picture 5">
            <a:extLst>
              <a:ext uri="{FF2B5EF4-FFF2-40B4-BE49-F238E27FC236}">
                <a16:creationId xmlns:a16="http://schemas.microsoft.com/office/drawing/2014/main" id="{4D22D58F-9401-4B5A-B5F7-89822736E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2362200"/>
            <a:ext cx="612775" cy="8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54" name="Picture 6">
            <a:extLst>
              <a:ext uri="{FF2B5EF4-FFF2-40B4-BE49-F238E27FC236}">
                <a16:creationId xmlns:a16="http://schemas.microsoft.com/office/drawing/2014/main" id="{00F8DB92-0811-42D6-9492-3645E6539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601663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55" name="Picture 7">
            <a:extLst>
              <a:ext uri="{FF2B5EF4-FFF2-40B4-BE49-F238E27FC236}">
                <a16:creationId xmlns:a16="http://schemas.microsoft.com/office/drawing/2014/main" id="{9C23A067-80C5-435D-BE9B-B72E2EEC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800" y="2590800"/>
            <a:ext cx="677863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56" name="Picture 8">
            <a:extLst>
              <a:ext uri="{FF2B5EF4-FFF2-40B4-BE49-F238E27FC236}">
                <a16:creationId xmlns:a16="http://schemas.microsoft.com/office/drawing/2014/main" id="{4691085E-2D39-4C91-A267-1DB165F76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257800"/>
            <a:ext cx="110490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57" name="Picture 9">
            <a:extLst>
              <a:ext uri="{FF2B5EF4-FFF2-40B4-BE49-F238E27FC236}">
                <a16:creationId xmlns:a16="http://schemas.microsoft.com/office/drawing/2014/main" id="{363670AF-4BC4-4691-9454-0FFE172EB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410200"/>
            <a:ext cx="358775" cy="24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58" name="Picture 10">
            <a:extLst>
              <a:ext uri="{FF2B5EF4-FFF2-40B4-BE49-F238E27FC236}">
                <a16:creationId xmlns:a16="http://schemas.microsoft.com/office/drawing/2014/main" id="{CDFF598C-39B2-4CFA-A2B7-0644B8753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505200"/>
            <a:ext cx="601663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59" name="Text Box 11">
            <a:extLst>
              <a:ext uri="{FF2B5EF4-FFF2-40B4-BE49-F238E27FC236}">
                <a16:creationId xmlns:a16="http://schemas.microsoft.com/office/drawing/2014/main" id="{C0859736-6C3D-47CA-9AE0-519A8B9E5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76800"/>
            <a:ext cx="1905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Hierarchy?</a:t>
            </a:r>
          </a:p>
          <a:p>
            <a:pPr>
              <a:spcBef>
                <a:spcPct val="50000"/>
              </a:spcBef>
            </a:pPr>
            <a:r>
              <a:rPr lang="en-US" altLang="en-US" sz="2400"/>
              <a:t>Services</a:t>
            </a:r>
            <a:endParaRPr lang="en-GB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4E07851-5DC9-4060-AA4F-11E1F6C6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B7BB8D41-451A-4403-B981-0C53AE069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layered communication?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296F4B7D-0D8F-41C1-8906-09EFFEAA4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 reduce complexity of communication task by splitting it into several layered small tasks</a:t>
            </a:r>
          </a:p>
          <a:p>
            <a:r>
              <a:rPr lang="en-US" altLang="en-US"/>
              <a:t>Functionality of the layers can be changed as long as the service provided to the layer above stays unchanged </a:t>
            </a:r>
          </a:p>
          <a:p>
            <a:pPr lvl="1"/>
            <a:r>
              <a:rPr lang="en-US" altLang="en-US"/>
              <a:t>makes easier maintenance &amp; updating</a:t>
            </a:r>
          </a:p>
          <a:p>
            <a:pPr lvl="1"/>
            <a:endParaRPr lang="en-US" altLang="en-US"/>
          </a:p>
          <a:p>
            <a:r>
              <a:rPr lang="en-US" altLang="en-US"/>
              <a:t>Each layer has its own task</a:t>
            </a:r>
          </a:p>
          <a:p>
            <a:r>
              <a:rPr lang="en-US" altLang="en-US"/>
              <a:t>Each layer has its own </a:t>
            </a:r>
            <a:r>
              <a:rPr lang="en-US" altLang="en-US" u="sng"/>
              <a:t>protocol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862A08-16DB-4503-98CA-CDC6A4E6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313346" name="Rectangle 2">
            <a:extLst>
              <a:ext uri="{FF2B5EF4-FFF2-40B4-BE49-F238E27FC236}">
                <a16:creationId xmlns:a16="http://schemas.microsoft.com/office/drawing/2014/main" id="{FCED8D6A-D65B-484C-B99E-845F566AA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 Models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48AB1305-1EE2-4CB4-98F4-8D482B5E2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OSI reference model</a:t>
            </a:r>
          </a:p>
          <a:p>
            <a:r>
              <a:rPr lang="en-US" altLang="en-US"/>
              <a:t>TCP/IP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3139AC-B9E9-4083-A8CB-795EF85F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EFB9C97A-6339-4C79-A208-F41C4EDE6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OSI Reference model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D65445E6-08BD-40A9-8F3D-4E001576A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Open System Interconnection</a:t>
            </a:r>
          </a:p>
          <a:p>
            <a:r>
              <a:rPr lang="en-US" altLang="en-US" sz="2600"/>
              <a:t>7 layers</a:t>
            </a:r>
          </a:p>
          <a:p>
            <a:pPr>
              <a:buFontTx/>
              <a:buAutoNum type="arabicPeriod"/>
            </a:pPr>
            <a:endParaRPr lang="en-US" altLang="en-US" sz="2600"/>
          </a:p>
          <a:p>
            <a:pPr>
              <a:buFontTx/>
              <a:buAutoNum type="arabicPeriod"/>
            </a:pPr>
            <a:r>
              <a:rPr lang="en-US" altLang="en-US" sz="2600"/>
              <a:t>Crate a layer when different abstraction is needed</a:t>
            </a:r>
          </a:p>
          <a:p>
            <a:pPr>
              <a:buFontTx/>
              <a:buAutoNum type="arabicPeriod"/>
            </a:pPr>
            <a:r>
              <a:rPr lang="en-US" altLang="en-US" sz="2600"/>
              <a:t>Each layer performs a well define function</a:t>
            </a:r>
          </a:p>
          <a:p>
            <a:pPr>
              <a:buFontTx/>
              <a:buAutoNum type="arabicPeriod"/>
            </a:pPr>
            <a:r>
              <a:rPr lang="en-US" altLang="en-US" sz="2600"/>
              <a:t>Functions of the layers chosen taking internationally standardized protocols</a:t>
            </a:r>
          </a:p>
          <a:p>
            <a:pPr>
              <a:buFontTx/>
              <a:buAutoNum type="arabicPeriod"/>
            </a:pPr>
            <a:r>
              <a:rPr lang="en-US" altLang="en-US" sz="2600"/>
              <a:t>Number of layers – large enough to avoid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CD5AE5-12E1-4890-8004-C6FA137F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317442" name="Rectangle 2">
            <a:extLst>
              <a:ext uri="{FF2B5EF4-FFF2-40B4-BE49-F238E27FC236}">
                <a16:creationId xmlns:a16="http://schemas.microsoft.com/office/drawing/2014/main" id="{EF7372BA-C981-4835-97B1-549CA9D58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Seven layers of the OSI model</a:t>
            </a:r>
          </a:p>
        </p:txBody>
      </p:sp>
      <p:pic>
        <p:nvPicPr>
          <p:cNvPr id="317443" name="Picture 3">
            <a:extLst>
              <a:ext uri="{FF2B5EF4-FFF2-40B4-BE49-F238E27FC236}">
                <a16:creationId xmlns:a16="http://schemas.microsoft.com/office/drawing/2014/main" id="{9AC5269F-A1AF-4E57-A180-7E62F7DA5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579563"/>
            <a:ext cx="4251325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E64723-1C54-424E-B133-BB04F497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BFC42ECD-7772-4E92-BFC2-A68BB774C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Exchange using OSI Model</a:t>
            </a:r>
          </a:p>
        </p:txBody>
      </p:sp>
      <p:pic>
        <p:nvPicPr>
          <p:cNvPr id="319491" name="Picture 3">
            <a:extLst>
              <a:ext uri="{FF2B5EF4-FFF2-40B4-BE49-F238E27FC236}">
                <a16:creationId xmlns:a16="http://schemas.microsoft.com/office/drawing/2014/main" id="{975D4A57-CC11-492B-A781-6420A12A6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200150"/>
            <a:ext cx="7523162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FA8633-D2D5-4499-BD63-BEDCDC06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6FBD7FFC-85AD-4986-9514-FC24C4128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/>
              <a:t>The interaction between layers in the OSI model</a:t>
            </a:r>
          </a:p>
        </p:txBody>
      </p:sp>
      <p:pic>
        <p:nvPicPr>
          <p:cNvPr id="321539" name="Picture 3">
            <a:extLst>
              <a:ext uri="{FF2B5EF4-FFF2-40B4-BE49-F238E27FC236}">
                <a16:creationId xmlns:a16="http://schemas.microsoft.com/office/drawing/2014/main" id="{4FA39AFE-F4B0-4B81-8339-9C6DF4849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66800"/>
            <a:ext cx="6584950" cy="487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8D838-B0FF-4469-955C-4F6822BC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36BDA961-5689-44C6-BEC5-F4DF7D4B7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Issues, to be resolved by the layers</a:t>
            </a:r>
            <a:endParaRPr lang="en-US" altLang="en-US"/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58094EEA-4CAB-4380-B276-83FDDB7E5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100"/>
              <a:t>Larger bandwidth at lower cost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Error correction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Flow control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Addressing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Multiplexing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Naming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Congestion control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Mobility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Routing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Fragmentation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Security</a:t>
            </a:r>
          </a:p>
          <a:p>
            <a:pPr>
              <a:lnSpc>
                <a:spcPct val="90000"/>
              </a:lnSpc>
            </a:pPr>
            <a:r>
              <a:rPr lang="en-GB" altLang="en-US" sz="2100"/>
              <a:t>....</a:t>
            </a:r>
            <a:endParaRPr lang="en-US" altLang="en-US" sz="2100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7D0C6F4-A0BE-4B76-BE23-DDEC1812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680518F7-B310-4F06-97CC-C0511F9AA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1200"/>
            <a:ext cx="8229600" cy="1139825"/>
          </a:xfrm>
        </p:spPr>
        <p:txBody>
          <a:bodyPr/>
          <a:lstStyle/>
          <a:p>
            <a:pPr algn="ctr"/>
            <a:r>
              <a:rPr lang="en-US" altLang="en-US"/>
              <a:t>OSI Layers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D0A96E-8EC4-4FAF-A80E-6FB78B00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64D256F7-828F-44E2-84AC-D6A473E50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layer</a:t>
            </a:r>
            <a:endParaRPr lang="en-US" altLang="en-US"/>
          </a:p>
        </p:txBody>
      </p:sp>
      <p:pic>
        <p:nvPicPr>
          <p:cNvPr id="327683" name="Picture 3">
            <a:extLst>
              <a:ext uri="{FF2B5EF4-FFF2-40B4-BE49-F238E27FC236}">
                <a16:creationId xmlns:a16="http://schemas.microsoft.com/office/drawing/2014/main" id="{153884EE-7B6D-484D-ACE6-1F8E7791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95425"/>
            <a:ext cx="6450013" cy="232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684" name="Text Box 4">
            <a:extLst>
              <a:ext uri="{FF2B5EF4-FFF2-40B4-BE49-F238E27FC236}">
                <a16:creationId xmlns:a16="http://schemas.microsoft.com/office/drawing/2014/main" id="{EE91B03E-D5DF-4FDC-A094-A1C6283F0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33825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Transporting bits from one end node to the next</a:t>
            </a:r>
            <a:endParaRPr lang="en-GB" altLang="en-US" sz="2400" b="1"/>
          </a:p>
        </p:txBody>
      </p:sp>
      <p:sp>
        <p:nvSpPr>
          <p:cNvPr id="327685" name="Text Box 5">
            <a:extLst>
              <a:ext uri="{FF2B5EF4-FFF2-40B4-BE49-F238E27FC236}">
                <a16:creationId xmlns:a16="http://schemas.microsoft.com/office/drawing/2014/main" id="{0A759685-EC38-4C74-B569-94C94ED3B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43425"/>
            <a:ext cx="81534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buFontTx/>
              <a:buChar char="-"/>
            </a:pPr>
            <a:r>
              <a:rPr lang="en-US" altLang="en-US" sz="2000"/>
              <a:t> </a:t>
            </a:r>
            <a:r>
              <a:rPr lang="en-US" altLang="en-US" sz="2000">
                <a:solidFill>
                  <a:schemeClr val="accent2"/>
                </a:solidFill>
              </a:rPr>
              <a:t>type of the transmission media </a:t>
            </a:r>
            <a:r>
              <a:rPr lang="en-US" altLang="en-US" sz="2000"/>
              <a:t>(twisted-pair, coax, optical fiber, air)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Char char="-"/>
            </a:pPr>
            <a:r>
              <a:rPr lang="en-GB" altLang="en-US" sz="2000">
                <a:solidFill>
                  <a:schemeClr val="accent2"/>
                </a:solidFill>
              </a:rPr>
              <a:t> bit representation </a:t>
            </a:r>
            <a:r>
              <a:rPr lang="en-GB" altLang="en-US" sz="2000"/>
              <a:t>(voltage levels of logical values)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Char char="-"/>
            </a:pPr>
            <a:r>
              <a:rPr lang="en-GB" altLang="en-US" sz="2000">
                <a:solidFill>
                  <a:schemeClr val="accent2"/>
                </a:solidFill>
              </a:rPr>
              <a:t> data rate </a:t>
            </a:r>
            <a:r>
              <a:rPr lang="en-GB" altLang="en-US" sz="2000"/>
              <a:t>(speed)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Char char="-"/>
            </a:pPr>
            <a:r>
              <a:rPr lang="en-GB" altLang="en-US" sz="2000">
                <a:solidFill>
                  <a:schemeClr val="accent2"/>
                </a:solidFill>
              </a:rPr>
              <a:t> synchronization of bits </a:t>
            </a:r>
            <a:r>
              <a:rPr lang="en-GB" altLang="en-US" sz="2000"/>
              <a:t>(time synchronization)</a:t>
            </a:r>
          </a:p>
        </p:txBody>
      </p:sp>
      <p:sp>
        <p:nvSpPr>
          <p:cNvPr id="327686" name="Text Box 6">
            <a:extLst>
              <a:ext uri="{FF2B5EF4-FFF2-40B4-BE49-F238E27FC236}">
                <a16:creationId xmlns:a16="http://schemas.microsoft.com/office/drawing/2014/main" id="{03A3BD9B-5501-4B3D-81AB-AE2F4A1C9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266825"/>
            <a:ext cx="14478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physical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connection</a:t>
            </a: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327687" name="Line 7">
            <a:extLst>
              <a:ext uri="{FF2B5EF4-FFF2-40B4-BE49-F238E27FC236}">
                <a16:creationId xmlns:a16="http://schemas.microsoft.com/office/drawing/2014/main" id="{5AD9F545-CCF5-4C4D-92B1-1A2122714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876425"/>
            <a:ext cx="0" cy="1143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895D422-5EE2-4F7F-B94E-47757712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EF89EFD4-19F6-4EE8-B8D3-B412D46F6F6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329730" name="Line 2">
            <a:extLst>
              <a:ext uri="{FF2B5EF4-FFF2-40B4-BE49-F238E27FC236}">
                <a16:creationId xmlns:a16="http://schemas.microsoft.com/office/drawing/2014/main" id="{F43D6A11-1EEE-4061-9858-C00E644CA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731" name="Line 3">
            <a:extLst>
              <a:ext uri="{FF2B5EF4-FFF2-40B4-BE49-F238E27FC236}">
                <a16:creationId xmlns:a16="http://schemas.microsoft.com/office/drawing/2014/main" id="{A7147A51-FBF9-4661-B4E8-EEF33C6C5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732" name="Rectangle 4">
            <a:extLst>
              <a:ext uri="{FF2B5EF4-FFF2-40B4-BE49-F238E27FC236}">
                <a16:creationId xmlns:a16="http://schemas.microsoft.com/office/drawing/2014/main" id="{763F068E-2DCA-42EA-A82A-FDF5CA36D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2400" b="1">
                <a:latin typeface="Times New Roman" panose="02020603050405020304" pitchFamily="18" charset="0"/>
              </a:rPr>
              <a:t>The physical layer is responsible for movements of</a:t>
            </a:r>
          </a:p>
          <a:p>
            <a:pPr algn="ctr" eaLnBrk="0" hangingPunct="0"/>
            <a:r>
              <a:rPr lang="en-US" altLang="en-US" sz="2400" b="1">
                <a:latin typeface="Times New Roman" panose="02020603050405020304" pitchFamily="18" charset="0"/>
              </a:rPr>
              <a:t>individual bits from one hop (node) to the next.</a:t>
            </a:r>
          </a:p>
        </p:txBody>
      </p:sp>
      <p:grpSp>
        <p:nvGrpSpPr>
          <p:cNvPr id="329733" name="Group 5">
            <a:extLst>
              <a:ext uri="{FF2B5EF4-FFF2-40B4-BE49-F238E27FC236}">
                <a16:creationId xmlns:a16="http://schemas.microsoft.com/office/drawing/2014/main" id="{5482BE56-9A74-4DC0-A119-6C8B1FE2F66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0"/>
            <a:ext cx="1143000" cy="566738"/>
            <a:chOff x="1200" y="1248"/>
            <a:chExt cx="720" cy="357"/>
          </a:xfrm>
        </p:grpSpPr>
        <p:pic>
          <p:nvPicPr>
            <p:cNvPr id="329734" name="Picture 6">
              <a:extLst>
                <a:ext uri="{FF2B5EF4-FFF2-40B4-BE49-F238E27FC236}">
                  <a16:creationId xmlns:a16="http://schemas.microsoft.com/office/drawing/2014/main" id="{74D435C3-D3F8-4D49-9811-6B6C8870A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9735" name="Text Box 7">
              <a:extLst>
                <a:ext uri="{FF2B5EF4-FFF2-40B4-BE49-F238E27FC236}">
                  <a16:creationId xmlns:a16="http://schemas.microsoft.com/office/drawing/2014/main" id="{BF5CE617-5DA4-4087-8652-DC84E10F8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D57250-17A7-4897-80F4-85CB6BD7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8005"/>
            <a:ext cx="7772400" cy="57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73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7206B3A-FD68-4672-BCE6-B39DDFD4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1393B875-7312-4422-8B87-8A8230FE0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Data Link layer</a:t>
            </a:r>
            <a:endParaRPr lang="en-US" altLang="en-US"/>
          </a:p>
        </p:txBody>
      </p:sp>
      <p:pic>
        <p:nvPicPr>
          <p:cNvPr id="331779" name="Picture 3">
            <a:extLst>
              <a:ext uri="{FF2B5EF4-FFF2-40B4-BE49-F238E27FC236}">
                <a16:creationId xmlns:a16="http://schemas.microsoft.com/office/drawing/2014/main" id="{2BB8A0DB-1B7C-4847-BB44-448D1B027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7010400" cy="230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1780" name="Text Box 4">
            <a:extLst>
              <a:ext uri="{FF2B5EF4-FFF2-40B4-BE49-F238E27FC236}">
                <a16:creationId xmlns:a16="http://schemas.microsoft.com/office/drawing/2014/main" id="{22C1B580-5FE7-46A6-88D7-92B11C9D9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962400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Transporting frames from one end node to the next one</a:t>
            </a:r>
            <a:endParaRPr lang="en-GB" altLang="en-US" sz="2400" b="1"/>
          </a:p>
        </p:txBody>
      </p:sp>
      <p:sp>
        <p:nvSpPr>
          <p:cNvPr id="331781" name="Line 5">
            <a:extLst>
              <a:ext uri="{FF2B5EF4-FFF2-40B4-BE49-F238E27FC236}">
                <a16:creationId xmlns:a16="http://schemas.microsoft.com/office/drawing/2014/main" id="{A373F8A5-D820-46C1-BBF1-F91BC4C8B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438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1782" name="Text Box 6">
            <a:extLst>
              <a:ext uri="{FF2B5EF4-FFF2-40B4-BE49-F238E27FC236}">
                <a16:creationId xmlns:a16="http://schemas.microsoft.com/office/drawing/2014/main" id="{CD2CBAAC-7C0D-41F9-9D66-5CE1339C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14478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logical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connection</a:t>
            </a: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331783" name="Line 7">
            <a:extLst>
              <a:ext uri="{FF2B5EF4-FFF2-40B4-BE49-F238E27FC236}">
                <a16:creationId xmlns:a16="http://schemas.microsoft.com/office/drawing/2014/main" id="{A84F9B63-45EF-4D69-9D10-8A886BFD2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752600"/>
            <a:ext cx="0" cy="609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1784" name="Text Box 8">
            <a:extLst>
              <a:ext uri="{FF2B5EF4-FFF2-40B4-BE49-F238E27FC236}">
                <a16:creationId xmlns:a16="http://schemas.microsoft.com/office/drawing/2014/main" id="{1B27D846-66FC-4F8D-921E-274B5324B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48200"/>
            <a:ext cx="6172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- </a:t>
            </a:r>
            <a:r>
              <a:rPr lang="en-US" altLang="en-US" sz="2400">
                <a:solidFill>
                  <a:schemeClr val="accent2"/>
                </a:solidFill>
              </a:rPr>
              <a:t>framing               - physical addressing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</a:rPr>
              <a:t> - flow control        - error control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en-US" sz="2400">
                <a:solidFill>
                  <a:schemeClr val="accent2"/>
                </a:solidFill>
              </a:rPr>
              <a:t> access control</a:t>
            </a:r>
            <a:endParaRPr lang="en-GB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4FBA47-8169-409A-9889-CFE548A5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A6973E7A-08D9-4831-BCEF-6139EB6B8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800"/>
              <a:t>Data Link layer</a:t>
            </a:r>
            <a:br>
              <a:rPr lang="en-GB" altLang="en-US" sz="3800"/>
            </a:br>
            <a:r>
              <a:rPr lang="en-GB" altLang="en-US" sz="3000"/>
              <a:t>- hop-to-hop delivery-</a:t>
            </a:r>
            <a:endParaRPr lang="en-US" altLang="en-US" sz="3000"/>
          </a:p>
        </p:txBody>
      </p:sp>
      <p:pic>
        <p:nvPicPr>
          <p:cNvPr id="333827" name="Picture 3">
            <a:extLst>
              <a:ext uri="{FF2B5EF4-FFF2-40B4-BE49-F238E27FC236}">
                <a16:creationId xmlns:a16="http://schemas.microsoft.com/office/drawing/2014/main" id="{951D1A95-7937-47E7-A4EB-1239C19D0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858000" cy="427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62CDA8B-DF2B-4571-ADED-594FE517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335874" name="Rectangle 2">
            <a:extLst>
              <a:ext uri="{FF2B5EF4-FFF2-40B4-BE49-F238E27FC236}">
                <a16:creationId xmlns:a16="http://schemas.microsoft.com/office/drawing/2014/main" id="{098CE354-D61B-4A30-9B66-D1453C6FB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800"/>
              <a:t>Data Link layer</a:t>
            </a:r>
            <a:br>
              <a:rPr lang="en-GB" altLang="en-US" sz="3000"/>
            </a:br>
            <a:r>
              <a:rPr lang="en-GB" altLang="en-US" sz="3000"/>
              <a:t>- example-</a:t>
            </a:r>
            <a:endParaRPr lang="en-US" altLang="en-US" sz="3000"/>
          </a:p>
        </p:txBody>
      </p:sp>
      <p:pic>
        <p:nvPicPr>
          <p:cNvPr id="335875" name="Picture 3">
            <a:extLst>
              <a:ext uri="{FF2B5EF4-FFF2-40B4-BE49-F238E27FC236}">
                <a16:creationId xmlns:a16="http://schemas.microsoft.com/office/drawing/2014/main" id="{1001F4BC-E2D7-4739-889A-7DB0CDEEB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7620000" cy="225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9E34A53-4391-4141-ABC7-84BFD834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EF89EFD4-19F6-4EE8-B8D3-B412D46F6F6D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37922" name="Line 2">
            <a:extLst>
              <a:ext uri="{FF2B5EF4-FFF2-40B4-BE49-F238E27FC236}">
                <a16:creationId xmlns:a16="http://schemas.microsoft.com/office/drawing/2014/main" id="{1421AF85-E45F-426C-95D1-669021588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3" name="Line 3">
            <a:extLst>
              <a:ext uri="{FF2B5EF4-FFF2-40B4-BE49-F238E27FC236}">
                <a16:creationId xmlns:a16="http://schemas.microsoft.com/office/drawing/2014/main" id="{290EAB42-D2B0-4B71-ABB0-76223554E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4" name="Rectangle 4">
            <a:extLst>
              <a:ext uri="{FF2B5EF4-FFF2-40B4-BE49-F238E27FC236}">
                <a16:creationId xmlns:a16="http://schemas.microsoft.com/office/drawing/2014/main" id="{DF78A0A8-6CF1-4728-9B30-8DE600D58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2400" b="1">
                <a:latin typeface="Times New Roman" panose="02020603050405020304" pitchFamily="18" charset="0"/>
              </a:rPr>
              <a:t>The data link layer is responsible for moving 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frames from one hop (node) to the next.</a:t>
            </a:r>
          </a:p>
        </p:txBody>
      </p:sp>
      <p:grpSp>
        <p:nvGrpSpPr>
          <p:cNvPr id="337925" name="Group 5">
            <a:extLst>
              <a:ext uri="{FF2B5EF4-FFF2-40B4-BE49-F238E27FC236}">
                <a16:creationId xmlns:a16="http://schemas.microsoft.com/office/drawing/2014/main" id="{134297E7-FD8D-49D4-8637-0927A027A2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0"/>
            <a:ext cx="1143000" cy="566738"/>
            <a:chOff x="1200" y="1248"/>
            <a:chExt cx="720" cy="357"/>
          </a:xfrm>
        </p:grpSpPr>
        <p:pic>
          <p:nvPicPr>
            <p:cNvPr id="337926" name="Picture 6">
              <a:extLst>
                <a:ext uri="{FF2B5EF4-FFF2-40B4-BE49-F238E27FC236}">
                  <a16:creationId xmlns:a16="http://schemas.microsoft.com/office/drawing/2014/main" id="{5FC65981-5BE3-42C8-BC87-36829E855E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7927" name="Text Box 7">
              <a:extLst>
                <a:ext uri="{FF2B5EF4-FFF2-40B4-BE49-F238E27FC236}">
                  <a16:creationId xmlns:a16="http://schemas.microsoft.com/office/drawing/2014/main" id="{03A5EDE9-73F4-4F28-890B-561A9D619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 descr="f02-06-9780123850591 copy">
            <a:extLst>
              <a:ext uri="{FF2B5EF4-FFF2-40B4-BE49-F238E27FC236}">
                <a16:creationId xmlns:a16="http://schemas.microsoft.com/office/drawing/2014/main" id="{4D9390C1-B10D-4C2B-9AD6-644E61B56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933825"/>
            <a:ext cx="4824412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2">
            <a:extLst>
              <a:ext uri="{FF2B5EF4-FFF2-40B4-BE49-F238E27FC236}">
                <a16:creationId xmlns:a16="http://schemas.microsoft.com/office/drawing/2014/main" id="{FA71400D-7D4D-486B-8160-C950C56F9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59D6323-FA1B-41C2-81CF-8538673F8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We are focusing on packet-switched networks, which means that blocks of data (called </a:t>
            </a:r>
            <a:r>
              <a:rPr lang="en-US" altLang="en-US" sz="2800" i="1" dirty="0"/>
              <a:t>frames</a:t>
            </a:r>
            <a:r>
              <a:rPr lang="en-US" altLang="en-US" sz="2800" dirty="0"/>
              <a:t> at this level), not bit streams, are exchanged between nodes. </a:t>
            </a:r>
          </a:p>
          <a:p>
            <a:r>
              <a:rPr lang="en-US" altLang="en-US" sz="2800" dirty="0"/>
              <a:t>It is the network adaptor that enables the nodes to exchange frames. 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D10EAA10-997E-4757-A27A-8509D41C8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589588"/>
            <a:ext cx="5894387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99"/>
                </a:solidFill>
                <a:latin typeface="+mj-lt"/>
              </a:rPr>
              <a:t>Bits flow between adaptors, frames between hosts</a:t>
            </a:r>
            <a:endParaRPr lang="en-GB" sz="2000" dirty="0">
              <a:solidFill>
                <a:srgbClr val="0000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FA71400D-7D4D-486B-8160-C950C56F9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677108"/>
          </a:xfrm>
        </p:spPr>
        <p:txBody>
          <a:bodyPr/>
          <a:lstStyle/>
          <a:p>
            <a:pPr eaLnBrk="1" hangingPunct="1"/>
            <a:r>
              <a:rPr lang="en-US" altLang="en-US" dirty="0"/>
              <a:t>Why Framing?</a:t>
            </a:r>
            <a:endParaRPr lang="en-AU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0F038-E112-410E-B2CA-E4A2409CF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framing, receiver sees continuous bit stream: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183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FA71400D-7D4D-486B-8160-C950C56F9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677108"/>
          </a:xfrm>
        </p:spPr>
        <p:txBody>
          <a:bodyPr/>
          <a:lstStyle/>
          <a:p>
            <a:pPr eaLnBrk="1" hangingPunct="1"/>
            <a:r>
              <a:rPr lang="en-US" altLang="en-US" dirty="0"/>
              <a:t>Why Framing?</a:t>
            </a:r>
            <a:endParaRPr lang="en-AU" altLang="en-US" dirty="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59D6323-FA1B-41C2-81CF-8538673F8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5940" y="1558797"/>
            <a:ext cx="8072755" cy="3447098"/>
          </a:xfrm>
        </p:spPr>
        <p:txBody>
          <a:bodyPr/>
          <a:lstStyle/>
          <a:p>
            <a:r>
              <a:rPr lang="en-US" altLang="en-US" sz="2800" dirty="0"/>
              <a:t>Without framing, receiver sees continuous bit stream</a:t>
            </a:r>
          </a:p>
          <a:p>
            <a:endParaRPr lang="en-US" altLang="en-US" sz="2800" dirty="0"/>
          </a:p>
          <a:p>
            <a:r>
              <a:rPr lang="en-US" altLang="en-US" sz="2800" dirty="0"/>
              <a:t>Transmitted: [FRAME1][FRAME2][FRAME3]...</a:t>
            </a:r>
          </a:p>
          <a:p>
            <a:r>
              <a:rPr lang="en-US" altLang="en-US" sz="2800" dirty="0"/>
              <a:t>Received:    01011010011010101100101011010101011010...</a:t>
            </a:r>
          </a:p>
          <a:p>
            <a:endParaRPr lang="en-US" altLang="en-US" sz="2800" dirty="0"/>
          </a:p>
          <a:p>
            <a:r>
              <a:rPr lang="en-US" altLang="en-US" sz="2800" dirty="0"/>
              <a:t>Problem: Where does Frame 1 end? Where does Frame 2 start?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0F038-E112-410E-B2CA-E4A2409CF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framing, receiver sees continuous bit stream: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197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72A6972-FE9C-4FD3-88DE-A96C3906A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B365834-C28C-47AB-ADBB-95E415115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When node A wishes to transmit a frame to node B, it tells its adaptor to transmit a frame from the node’s memory. This results in a sequence of bits being sent over the link.</a:t>
            </a:r>
          </a:p>
          <a:p>
            <a:r>
              <a:rPr lang="en-US" altLang="en-US" sz="2800"/>
              <a:t>The adaptor on node B then collects together the sequence of bits arriving on the link and deposits the corresponding frame in B’s memory.</a:t>
            </a:r>
          </a:p>
          <a:p>
            <a:r>
              <a:rPr lang="en-US" altLang="en-US" sz="2800"/>
              <a:t>Recognizing exactly what set of bits constitute a frame—that is, determining where the frame begins and ends—is the central challenge faced by the adaptor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2C51D0-E022-4B42-BA5A-E133E7927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DBE8325-3264-4C28-8B14-664FAC5F8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BISYNC – sentinel approach</a:t>
            </a:r>
          </a:p>
          <a:p>
            <a:pPr lvl="1"/>
            <a:r>
              <a:rPr lang="en-US" altLang="en-US" sz="2400"/>
              <a:t>Frames transmitted beginning with leftmost field</a:t>
            </a:r>
          </a:p>
          <a:p>
            <a:pPr lvl="1"/>
            <a:r>
              <a:rPr lang="en-US" altLang="en-US" sz="2400"/>
              <a:t>Beginning of a frame is denoted by sending a special SYN (synchronize) character</a:t>
            </a:r>
          </a:p>
          <a:p>
            <a:pPr lvl="1"/>
            <a:r>
              <a:rPr lang="en-US" altLang="en-US" sz="2400"/>
              <a:t>Data portion of the frame is contained between special sentinel character STX (start of text) and ETX (end of text)</a:t>
            </a:r>
          </a:p>
          <a:p>
            <a:pPr lvl="1"/>
            <a:r>
              <a:rPr lang="en-US" altLang="en-US" sz="2400"/>
              <a:t>SOH : Start of Header</a:t>
            </a:r>
          </a:p>
          <a:p>
            <a:pPr lvl="1"/>
            <a:r>
              <a:rPr lang="en-US" altLang="en-US" sz="2400"/>
              <a:t>DLE : Data Link Escape</a:t>
            </a:r>
          </a:p>
          <a:p>
            <a:pPr lvl="1"/>
            <a:r>
              <a:rPr lang="en-US" altLang="en-US" sz="2400"/>
              <a:t>CRC: Cyclic Redundancy Check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C391F6B-4C32-44F0-8B16-3DEF2A5DC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DBA54D5-2DE4-466B-8FA5-0BB1F8551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5803" y="1371600"/>
            <a:ext cx="8072755" cy="2585323"/>
          </a:xfrm>
        </p:spPr>
        <p:txBody>
          <a:bodyPr/>
          <a:lstStyle/>
          <a:p>
            <a:pPr algn="l" rtl="0"/>
            <a:r>
              <a:rPr lang="en-US" altLang="en-US" dirty="0"/>
              <a:t>Byte-counting approach OR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Character Count (Obsolete – Included for Historical Context)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DDCMP</a:t>
            </a:r>
          </a:p>
          <a:p>
            <a:pPr lvl="1"/>
            <a:r>
              <a:rPr lang="en-US" altLang="en-US" i="1" dirty="0"/>
              <a:t>count</a:t>
            </a:r>
            <a:r>
              <a:rPr lang="en-US" altLang="en-US" dirty="0"/>
              <a:t> : how many bytes are contained in the frame body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i="1" dirty="0"/>
              <a:t>count</a:t>
            </a:r>
            <a:r>
              <a:rPr lang="en-US" altLang="en-US" dirty="0"/>
              <a:t> is corrupted</a:t>
            </a:r>
          </a:p>
          <a:p>
            <a:pPr lvl="2"/>
            <a:r>
              <a:rPr lang="en-US" altLang="en-US" dirty="0"/>
              <a:t>Framing error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F0C5C-3E35-4B22-B000-BB471ABE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43400"/>
            <a:ext cx="6686550" cy="14192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CBD5DC3-2450-4986-B566-88073A93A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1CA9DD4-AB0A-4DAB-B1FF-429E66880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Byte-oriented Protocols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To view each frame as a collection of bytes (characters) rather than bits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BISYNC (Binary Synchronous Communication) Protocol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Developed by IBM (late 1960)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DDCMP (Digital Data Communication Protocol)</a:t>
            </a:r>
          </a:p>
          <a:p>
            <a:pPr lvl="2">
              <a:lnSpc>
                <a:spcPct val="80000"/>
              </a:lnSpc>
            </a:pPr>
            <a:r>
              <a:rPr lang="en-US" altLang="en-US" sz="2000"/>
              <a:t>Used in DECNet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5" descr="f02-07-9780123850591 copy">
            <a:extLst>
              <a:ext uri="{FF2B5EF4-FFF2-40B4-BE49-F238E27FC236}">
                <a16:creationId xmlns:a16="http://schemas.microsoft.com/office/drawing/2014/main" id="{03938056-9550-4F11-801D-CDE4569E8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636838"/>
            <a:ext cx="561657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>
            <a:extLst>
              <a:ext uri="{FF2B5EF4-FFF2-40B4-BE49-F238E27FC236}">
                <a16:creationId xmlns:a16="http://schemas.microsoft.com/office/drawing/2014/main" id="{D6D571D8-D3F1-4C80-A24C-A68F124DC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GB" altLang="en-US"/>
          </a:p>
        </p:txBody>
      </p:sp>
      <p:sp>
        <p:nvSpPr>
          <p:cNvPr id="27652" name="Text Box 8">
            <a:extLst>
              <a:ext uri="{FF2B5EF4-FFF2-40B4-BE49-F238E27FC236}">
                <a16:creationId xmlns:a16="http://schemas.microsoft.com/office/drawing/2014/main" id="{EBB6B3C9-D4A4-4FF4-87CD-6575AFD9E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789363"/>
            <a:ext cx="2833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BISYNC Frame Format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21653FC-5973-4BD0-90F6-A543050EF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8BD6EC5-17AF-46BE-B388-7FAB3F083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5622" y="1143000"/>
            <a:ext cx="8072755" cy="4317365"/>
          </a:xfrm>
        </p:spPr>
        <p:txBody>
          <a:bodyPr/>
          <a:lstStyle/>
          <a:p>
            <a:r>
              <a:rPr lang="en-US" altLang="en-US" dirty="0"/>
              <a:t>Recent PPP which is commonly run over Internet links uses sentinel approach</a:t>
            </a:r>
          </a:p>
          <a:p>
            <a:pPr lvl="1"/>
            <a:r>
              <a:rPr lang="en-US" altLang="en-US" dirty="0"/>
              <a:t>Special start of text character denoted as Flag</a:t>
            </a:r>
          </a:p>
          <a:p>
            <a:pPr lvl="2"/>
            <a:r>
              <a:rPr lang="en-US" altLang="en-US" dirty="0"/>
              <a:t>0 1 1 1 1 1 1 0</a:t>
            </a:r>
          </a:p>
          <a:p>
            <a:pPr lvl="1"/>
            <a:r>
              <a:rPr lang="en-US" altLang="en-US" dirty="0"/>
              <a:t>Address, control : default numbers</a:t>
            </a:r>
          </a:p>
          <a:p>
            <a:pPr lvl="1"/>
            <a:r>
              <a:rPr lang="en-US" altLang="en-US" dirty="0"/>
              <a:t>Protocol for </a:t>
            </a:r>
            <a:r>
              <a:rPr lang="en-US" altLang="en-US" dirty="0" err="1"/>
              <a:t>demux</a:t>
            </a:r>
            <a:r>
              <a:rPr lang="en-US" altLang="en-US" dirty="0"/>
              <a:t> : IP / IPX</a:t>
            </a:r>
          </a:p>
          <a:p>
            <a:pPr lvl="1"/>
            <a:r>
              <a:rPr lang="en-US" altLang="en-US" dirty="0"/>
              <a:t>Payload : negotiated (1500 bytes)</a:t>
            </a:r>
          </a:p>
          <a:p>
            <a:pPr lvl="1"/>
            <a:r>
              <a:rPr lang="en-US" altLang="en-US" dirty="0"/>
              <a:t>Checksum : for error detection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CBD5DC3-2450-4986-B566-88073A93A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677108"/>
          </a:xfrm>
        </p:spPr>
        <p:txBody>
          <a:bodyPr/>
          <a:lstStyle/>
          <a:p>
            <a:pPr eaLnBrk="1" hangingPunct="1"/>
            <a:r>
              <a:rPr lang="en-US" altLang="en-US" dirty="0"/>
              <a:t>Framing Techniques</a:t>
            </a:r>
            <a:endParaRPr lang="en-AU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59F68-267A-44B7-A9A9-FD3165C07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58797"/>
            <a:ext cx="8072755" cy="98488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F71D82-4C3E-4334-9BC3-C185F9842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86889"/>
            <a:ext cx="63783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2000" b="1" i="0" dirty="0">
                <a:solidFill>
                  <a:srgbClr val="1D1D1F"/>
                </a:solidFill>
                <a:effectLst/>
                <a:latin typeface="system-ui"/>
              </a:rPr>
              <a:t>Flag Bytes with Byte Stuffing (PPP – Point-to-Point Protocol)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54130-4D4D-466D-97BD-D6A18F22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8" y="1946806"/>
            <a:ext cx="7258621" cy="374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68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5" descr="f02-08-9780123850591 copy">
            <a:extLst>
              <a:ext uri="{FF2B5EF4-FFF2-40B4-BE49-F238E27FC236}">
                <a16:creationId xmlns:a16="http://schemas.microsoft.com/office/drawing/2014/main" id="{38E057D3-89D8-432E-BB75-A1413E24D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708275"/>
            <a:ext cx="662622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>
            <a:extLst>
              <a:ext uri="{FF2B5EF4-FFF2-40B4-BE49-F238E27FC236}">
                <a16:creationId xmlns:a16="http://schemas.microsoft.com/office/drawing/2014/main" id="{EF587037-FB6D-41DC-92D1-12A943EF6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GB" altLang="en-US"/>
          </a:p>
        </p:txBody>
      </p:sp>
      <p:sp>
        <p:nvSpPr>
          <p:cNvPr id="29700" name="Text Box 8">
            <a:extLst>
              <a:ext uri="{FF2B5EF4-FFF2-40B4-BE49-F238E27FC236}">
                <a16:creationId xmlns:a16="http://schemas.microsoft.com/office/drawing/2014/main" id="{0CF0B246-F568-4E2E-AF2B-13AF584F8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789363"/>
            <a:ext cx="238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PPP Frame Format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5" descr="f02-09-9780123850591 copy">
            <a:extLst>
              <a:ext uri="{FF2B5EF4-FFF2-40B4-BE49-F238E27FC236}">
                <a16:creationId xmlns:a16="http://schemas.microsoft.com/office/drawing/2014/main" id="{9E9E12CD-2BC8-4218-A1D5-E945185B6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781300"/>
            <a:ext cx="57594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2">
            <a:extLst>
              <a:ext uri="{FF2B5EF4-FFF2-40B4-BE49-F238E27FC236}">
                <a16:creationId xmlns:a16="http://schemas.microsoft.com/office/drawing/2014/main" id="{BC088FEF-98D8-47AB-8670-E346AEFB2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GB" altLang="en-US"/>
          </a:p>
        </p:txBody>
      </p:sp>
      <p:sp>
        <p:nvSpPr>
          <p:cNvPr id="31748" name="Text Box 8">
            <a:extLst>
              <a:ext uri="{FF2B5EF4-FFF2-40B4-BE49-F238E27FC236}">
                <a16:creationId xmlns:a16="http://schemas.microsoft.com/office/drawing/2014/main" id="{9FF8FC99-782F-4E71-880C-6ECFC80A9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860800"/>
            <a:ext cx="281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DDCMP Frame Format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5" descr="f02-10-9780123850591 copy">
            <a:extLst>
              <a:ext uri="{FF2B5EF4-FFF2-40B4-BE49-F238E27FC236}">
                <a16:creationId xmlns:a16="http://schemas.microsoft.com/office/drawing/2014/main" id="{1C5FE74E-87E0-47AF-A0EB-06FF8FEEC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573463"/>
            <a:ext cx="59055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2">
            <a:extLst>
              <a:ext uri="{FF2B5EF4-FFF2-40B4-BE49-F238E27FC236}">
                <a16:creationId xmlns:a16="http://schemas.microsoft.com/office/drawing/2014/main" id="{B41AB24F-86DE-4E97-A5B9-CE356B440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  <a:endParaRPr lang="en-AU" altLang="en-US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10D2729-AE21-4FE2-8869-61E4C8C98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Bit-oriented Protocol</a:t>
            </a:r>
          </a:p>
          <a:p>
            <a:pPr lvl="1"/>
            <a:r>
              <a:rPr lang="en-US" altLang="en-US"/>
              <a:t>HDLC : High Level Data Link Control</a:t>
            </a:r>
          </a:p>
          <a:p>
            <a:pPr lvl="2"/>
            <a:r>
              <a:rPr lang="en-US" altLang="en-US"/>
              <a:t>Beginning and Ending Sequences</a:t>
            </a:r>
          </a:p>
          <a:p>
            <a:pPr lvl="3">
              <a:buFontTx/>
              <a:buNone/>
            </a:pPr>
            <a:r>
              <a:rPr lang="en-US" altLang="en-US"/>
              <a:t>0 1 1 1 1 1 1 0</a:t>
            </a:r>
          </a:p>
          <a:p>
            <a:pPr lvl="1"/>
            <a:endParaRPr lang="en-US" altLang="en-US"/>
          </a:p>
        </p:txBody>
      </p:sp>
      <p:sp>
        <p:nvSpPr>
          <p:cNvPr id="32773" name="Text Box 8">
            <a:extLst>
              <a:ext uri="{FF2B5EF4-FFF2-40B4-BE49-F238E27FC236}">
                <a16:creationId xmlns:a16="http://schemas.microsoft.com/office/drawing/2014/main" id="{7D486C53-9D02-48A6-8BAC-FF75F24C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084763"/>
            <a:ext cx="2578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HDLC Frame Format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4132CB64-3267-4468-A847-CF060EE96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5622" y="304800"/>
            <a:ext cx="8072755" cy="4317365"/>
          </a:xfrm>
        </p:spPr>
        <p:txBody>
          <a:bodyPr/>
          <a:lstStyle/>
          <a:p>
            <a:r>
              <a:rPr lang="en-US" altLang="en-US" dirty="0"/>
              <a:t>HDLC Protocol</a:t>
            </a:r>
          </a:p>
          <a:p>
            <a:pPr lvl="1"/>
            <a:r>
              <a:rPr lang="en-US" altLang="en-US" dirty="0"/>
              <a:t>On the sending side, any time five consecutive 1’s have been transmitted from the body of the message (i.e. excluding when the sender is trying to send the distinguished 01111110 sequence)</a:t>
            </a:r>
          </a:p>
          <a:p>
            <a:pPr lvl="2"/>
            <a:r>
              <a:rPr lang="en-US" altLang="en-US" dirty="0"/>
              <a:t>The sender inserts 0 before transmitting the next 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B1502-9170-41D4-8380-9A9BE0517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9166"/>
            <a:ext cx="7467600" cy="39804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92F76C31-F61A-447D-AC7E-6648F27EF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4444" r="3333" b="10000"/>
          <a:stretch/>
        </p:blipFill>
        <p:spPr bwMode="auto">
          <a:xfrm>
            <a:off x="457200" y="304800"/>
            <a:ext cx="83820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243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00241A1-F4BD-4314-960B-90ABB9EDD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72755" cy="431736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HDLC Protocol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 the receiving side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5 consecutive 1’s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Next bit 0 : Stuffed, so discard it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/>
              <a:t>		          1 : Either </a:t>
            </a:r>
            <a:r>
              <a:rPr lang="en-US" altLang="en-US" dirty="0">
                <a:sym typeface="Wingdings" panose="05000000000000000000" pitchFamily="2" charset="2"/>
              </a:rPr>
              <a:t>End of the frame marker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		   Or Error has been introduced in the bitstream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Look at the next bit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If 0 ( 01111110 )  End of the frame marker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If 1 ( 01111111 )  Error, discard the whole frame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			     The receiver needs to wait for next 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			      01111110 before it can start 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			       receiving again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00241A1-F4BD-4314-960B-90ABB9EDD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72755" cy="531837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Bit Stuffing Algorithm</a:t>
            </a:r>
          </a:p>
          <a:p>
            <a:pPr lvl="1">
              <a:lnSpc>
                <a:spcPct val="90000"/>
              </a:lnSpc>
            </a:pPr>
            <a:endParaRPr lang="en-US" altLang="en-US" sz="2200" dirty="0"/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def </a:t>
            </a:r>
            <a:r>
              <a:rPr lang="en-US" altLang="en-US" sz="2200" dirty="0" err="1"/>
              <a:t>bit_stuff</a:t>
            </a:r>
            <a:r>
              <a:rPr lang="en-US" altLang="en-US" sz="2200" dirty="0"/>
              <a:t>(</a:t>
            </a:r>
            <a:r>
              <a:rPr lang="en-US" altLang="en-US" sz="2200" dirty="0" err="1"/>
              <a:t>data_bits</a:t>
            </a:r>
            <a:r>
              <a:rPr lang="en-US" altLang="en-US" sz="2200" dirty="0"/>
              <a:t>):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stuffed = []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</a:t>
            </a:r>
            <a:r>
              <a:rPr lang="en-US" altLang="en-US" sz="2200" dirty="0" err="1"/>
              <a:t>consecutive_ones</a:t>
            </a:r>
            <a:r>
              <a:rPr lang="en-US" altLang="en-US" sz="2200" dirty="0"/>
              <a:t> = 0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for bit in </a:t>
            </a:r>
            <a:r>
              <a:rPr lang="en-US" altLang="en-US" sz="2200" dirty="0" err="1"/>
              <a:t>data_bits</a:t>
            </a:r>
            <a:r>
              <a:rPr lang="en-US" altLang="en-US" sz="22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</a:t>
            </a:r>
            <a:r>
              <a:rPr lang="en-US" altLang="en-US" sz="2200" dirty="0" err="1"/>
              <a:t>stuffed.append</a:t>
            </a:r>
            <a:r>
              <a:rPr lang="en-US" altLang="en-US" sz="2200" dirty="0"/>
              <a:t>(bit)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if bit == 1: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    </a:t>
            </a:r>
            <a:r>
              <a:rPr lang="en-US" altLang="en-US" sz="2200" dirty="0" err="1"/>
              <a:t>consecutive_ones</a:t>
            </a:r>
            <a:r>
              <a:rPr lang="en-US" altLang="en-US" sz="2200" dirty="0"/>
              <a:t> += 1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    if </a:t>
            </a:r>
            <a:r>
              <a:rPr lang="en-US" altLang="en-US" sz="2200" dirty="0" err="1"/>
              <a:t>consecutive_ones</a:t>
            </a:r>
            <a:r>
              <a:rPr lang="en-US" altLang="en-US" sz="2200" dirty="0"/>
              <a:t> == 5:      # After 5 consecutive 1s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        </a:t>
            </a:r>
            <a:r>
              <a:rPr lang="en-US" altLang="en-US" sz="2200" dirty="0" err="1"/>
              <a:t>stuffed.append</a:t>
            </a:r>
            <a:r>
              <a:rPr lang="en-US" altLang="en-US" sz="2200" dirty="0"/>
              <a:t>(0)          # Insert stuff bit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        </a:t>
            </a:r>
            <a:r>
              <a:rPr lang="en-US" altLang="en-US" sz="2200" dirty="0" err="1"/>
              <a:t>consecutive_ones</a:t>
            </a:r>
            <a:r>
              <a:rPr lang="en-US" altLang="en-US" sz="2200" dirty="0"/>
              <a:t> = 0       # Reset counter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else: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        </a:t>
            </a:r>
            <a:r>
              <a:rPr lang="en-US" altLang="en-US" sz="2200" dirty="0" err="1"/>
              <a:t>consecutive_ones</a:t>
            </a:r>
            <a:r>
              <a:rPr lang="en-US" altLang="en-US" sz="2200" dirty="0"/>
              <a:t> = 0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    return stuffed</a:t>
            </a:r>
          </a:p>
        </p:txBody>
      </p:sp>
    </p:spTree>
    <p:extLst>
      <p:ext uri="{BB962C8B-B14F-4D97-AF65-F5344CB8AC3E}">
        <p14:creationId xmlns:p14="http://schemas.microsoft.com/office/powerpoint/2010/main" val="1744274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00241A1-F4BD-4314-960B-90ABB9EDD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72755" cy="7478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Bit Stuffing Example</a:t>
            </a:r>
          </a:p>
          <a:p>
            <a:pPr lvl="1">
              <a:lnSpc>
                <a:spcPct val="90000"/>
              </a:lnSpc>
            </a:pPr>
            <a:endParaRPr lang="en-US" alt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EEA12-8403-45F4-822D-2680D2B4F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8" y="1524000"/>
            <a:ext cx="7680108" cy="393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58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00241A1-F4BD-4314-960B-90ABB9EDD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72755" cy="7478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Bit De-Stuffing</a:t>
            </a:r>
          </a:p>
          <a:p>
            <a:pPr lvl="1">
              <a:lnSpc>
                <a:spcPct val="90000"/>
              </a:lnSpc>
            </a:pPr>
            <a:endParaRPr lang="en-US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EAE72-6EE1-4C6E-9C96-666FEEB1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81200"/>
            <a:ext cx="843793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71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AF30999-A600-46E9-A677-E3B359CBD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210"/>
            <a:ext cx="7077075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954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D36C628-3579-4B02-BC1B-646DBBB25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Error Detection</a:t>
            </a:r>
            <a:endParaRPr lang="en-AU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D6BF68B-3208-457B-9834-251AA41E7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Bit errors are introduced into frames</a:t>
            </a:r>
          </a:p>
          <a:p>
            <a:pPr lvl="1" eaLnBrk="1" hangingPunct="1"/>
            <a:r>
              <a:rPr lang="en-US" altLang="en-US" sz="2400"/>
              <a:t>Because of electrical interference and thermal noises</a:t>
            </a:r>
          </a:p>
          <a:p>
            <a:pPr eaLnBrk="1" hangingPunct="1"/>
            <a:r>
              <a:rPr lang="en-US" altLang="en-US" sz="2800"/>
              <a:t>Detecting Error</a:t>
            </a:r>
          </a:p>
          <a:p>
            <a:pPr eaLnBrk="1" hangingPunct="1"/>
            <a:r>
              <a:rPr lang="en-US" altLang="en-US" sz="2800"/>
              <a:t>Correction Error</a:t>
            </a:r>
          </a:p>
          <a:p>
            <a:pPr eaLnBrk="1" hangingPunct="1"/>
            <a:r>
              <a:rPr lang="en-US" altLang="en-US" sz="2800"/>
              <a:t>Two approaches when the recipient detects an error</a:t>
            </a:r>
          </a:p>
          <a:p>
            <a:pPr lvl="1" eaLnBrk="1" hangingPunct="1"/>
            <a:r>
              <a:rPr lang="en-US" altLang="en-US" sz="2400"/>
              <a:t>Notify the sender that the message was corrupted, so the sender can send again.</a:t>
            </a:r>
          </a:p>
          <a:p>
            <a:pPr lvl="2" eaLnBrk="1" hangingPunct="1"/>
            <a:r>
              <a:rPr lang="en-US" altLang="en-US" sz="2000"/>
              <a:t>If the error is rare, then the retransmitted message will  be error-free</a:t>
            </a:r>
          </a:p>
          <a:p>
            <a:pPr lvl="1" eaLnBrk="1" hangingPunct="1"/>
            <a:r>
              <a:rPr lang="en-US" altLang="en-US" sz="2400"/>
              <a:t>Using some error correct detection and correction algorithm, the receiver reconstructs the message</a:t>
            </a:r>
          </a:p>
        </p:txBody>
      </p:sp>
    </p:spTree>
    <p:extLst>
      <p:ext uri="{BB962C8B-B14F-4D97-AF65-F5344CB8AC3E}">
        <p14:creationId xmlns:p14="http://schemas.microsoft.com/office/powerpoint/2010/main" val="3762525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4CC324E-0AF4-4E76-97CE-B43901ED1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Error Detection</a:t>
            </a:r>
            <a:endParaRPr lang="en-AU" alt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FD03161-3A3A-43AF-858A-472F041097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Common technique for detecting transmission error</a:t>
            </a:r>
          </a:p>
          <a:p>
            <a:pPr lvl="1" eaLnBrk="1" hangingPunct="1"/>
            <a:r>
              <a:rPr lang="en-US" altLang="en-US" sz="2400"/>
              <a:t>CRC (Cyclic Redundancy Check)</a:t>
            </a:r>
          </a:p>
          <a:p>
            <a:pPr lvl="2" eaLnBrk="1" hangingPunct="1"/>
            <a:r>
              <a:rPr lang="en-US" altLang="en-US" sz="2000"/>
              <a:t>Used in HDLC, DDCMP, CSMA/CD, Token Ring</a:t>
            </a:r>
          </a:p>
          <a:p>
            <a:pPr lvl="1" eaLnBrk="1" hangingPunct="1"/>
            <a:r>
              <a:rPr lang="en-US" altLang="en-US" sz="2400"/>
              <a:t>Other approaches</a:t>
            </a:r>
          </a:p>
          <a:p>
            <a:pPr lvl="2" eaLnBrk="1" hangingPunct="1"/>
            <a:r>
              <a:rPr lang="en-US" altLang="en-US" sz="2000"/>
              <a:t>Two Dimensional Parity (BISYNC)</a:t>
            </a:r>
          </a:p>
          <a:p>
            <a:pPr lvl="2" eaLnBrk="1" hangingPunct="1"/>
            <a:r>
              <a:rPr lang="en-US" altLang="en-US" sz="2000"/>
              <a:t>Checksum (IP)</a:t>
            </a:r>
          </a:p>
        </p:txBody>
      </p:sp>
    </p:spTree>
    <p:extLst>
      <p:ext uri="{BB962C8B-B14F-4D97-AF65-F5344CB8AC3E}">
        <p14:creationId xmlns:p14="http://schemas.microsoft.com/office/powerpoint/2010/main" val="3610089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D4F2D65-8845-4B07-BA79-4EF758F72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312917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903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5F3F49F-39B5-43F7-BDEF-B3B75E40B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Error Detection</a:t>
            </a:r>
            <a:endParaRPr lang="en-AU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8B87149-2021-45F6-A04C-9E778CBFD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Basic Idea of Error Detection</a:t>
            </a:r>
          </a:p>
          <a:p>
            <a:pPr lvl="1" eaLnBrk="1" hangingPunct="1"/>
            <a:r>
              <a:rPr lang="en-US" altLang="en-US" sz="2400"/>
              <a:t>To add redundant information to a frame that can be used to determine if errors have been introduced</a:t>
            </a:r>
          </a:p>
          <a:p>
            <a:pPr lvl="1" eaLnBrk="1" hangingPunct="1"/>
            <a:r>
              <a:rPr lang="en-US" altLang="en-US" sz="2400"/>
              <a:t>Imagine (Extreme Case)</a:t>
            </a:r>
          </a:p>
          <a:p>
            <a:pPr lvl="2" eaLnBrk="1" hangingPunct="1"/>
            <a:r>
              <a:rPr lang="en-US" altLang="en-US" sz="2000"/>
              <a:t>Transmitting two complete copies of data</a:t>
            </a:r>
          </a:p>
          <a:p>
            <a:pPr lvl="3" eaLnBrk="1" hangingPunct="1"/>
            <a:r>
              <a:rPr lang="en-US" altLang="en-US" sz="1600"/>
              <a:t>Identical </a:t>
            </a:r>
            <a:r>
              <a:rPr lang="en-US" altLang="en-US" sz="1600">
                <a:sym typeface="Wingdings" panose="05000000000000000000" pitchFamily="2" charset="2"/>
              </a:rPr>
              <a:t> No error</a:t>
            </a:r>
          </a:p>
          <a:p>
            <a:pPr lvl="3" eaLnBrk="1" hangingPunct="1"/>
            <a:r>
              <a:rPr lang="en-US" altLang="en-US" sz="1600">
                <a:sym typeface="Wingdings" panose="05000000000000000000" pitchFamily="2" charset="2"/>
              </a:rPr>
              <a:t>Differ  Error</a:t>
            </a:r>
          </a:p>
          <a:p>
            <a:pPr lvl="3" eaLnBrk="1" hangingPunct="1"/>
            <a:r>
              <a:rPr lang="en-US" altLang="en-US" sz="1600">
                <a:sym typeface="Wingdings" panose="05000000000000000000" pitchFamily="2" charset="2"/>
              </a:rPr>
              <a:t>Poor Scheme ???</a:t>
            </a:r>
          </a:p>
          <a:p>
            <a:pPr lvl="4" eaLnBrk="1" hangingPunct="1"/>
            <a:r>
              <a:rPr lang="en-US" altLang="en-US" sz="1400">
                <a:sym typeface="Wingdings" panose="05000000000000000000" pitchFamily="2" charset="2"/>
              </a:rPr>
              <a:t>n bit message, n bit redundant information</a:t>
            </a:r>
          </a:p>
          <a:p>
            <a:pPr lvl="4" eaLnBrk="1" hangingPunct="1"/>
            <a:r>
              <a:rPr lang="en-US" altLang="en-US" sz="1400">
                <a:sym typeface="Wingdings" panose="05000000000000000000" pitchFamily="2" charset="2"/>
              </a:rPr>
              <a:t>Error can go undetected</a:t>
            </a:r>
          </a:p>
          <a:p>
            <a:pPr lvl="2" eaLnBrk="1" hangingPunct="1"/>
            <a:r>
              <a:rPr lang="en-US" altLang="en-US" sz="2000">
                <a:sym typeface="Wingdings" panose="05000000000000000000" pitchFamily="2" charset="2"/>
              </a:rPr>
              <a:t>In general, we can provide strong error detection technique</a:t>
            </a:r>
          </a:p>
          <a:p>
            <a:pPr lvl="3" eaLnBrk="1" hangingPunct="1"/>
            <a:r>
              <a:rPr lang="en-US" altLang="en-US" sz="1600">
                <a:sym typeface="Wingdings" panose="05000000000000000000" pitchFamily="2" charset="2"/>
              </a:rPr>
              <a:t>k redundant bits, n bits message, k &lt;&lt; n</a:t>
            </a:r>
          </a:p>
          <a:p>
            <a:pPr lvl="3" eaLnBrk="1" hangingPunct="1"/>
            <a:r>
              <a:rPr lang="en-US" altLang="en-US" sz="1600">
                <a:sym typeface="Wingdings" panose="05000000000000000000" pitchFamily="2" charset="2"/>
              </a:rPr>
              <a:t>In Ethernet, a frame carrying up to 12,000 bits of data requires only 32-bit CRC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1264214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721F71-B8D9-4914-A67F-38B80F5D0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Error Detection</a:t>
            </a:r>
            <a:endParaRPr lang="en-AU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B66C2E1-FB33-4431-A935-2A88E55D9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Extra bits are redundant</a:t>
            </a:r>
          </a:p>
          <a:p>
            <a:pPr lvl="1" eaLnBrk="1" hangingPunct="1"/>
            <a:r>
              <a:rPr lang="en-US" altLang="en-US" sz="2000"/>
              <a:t>They add no new information to the message</a:t>
            </a:r>
          </a:p>
          <a:p>
            <a:pPr lvl="1" eaLnBrk="1" hangingPunct="1"/>
            <a:r>
              <a:rPr lang="en-US" altLang="en-US" sz="2000"/>
              <a:t>Derived from the original message using some algorithm</a:t>
            </a:r>
          </a:p>
          <a:p>
            <a:pPr lvl="1" eaLnBrk="1" hangingPunct="1"/>
            <a:r>
              <a:rPr lang="en-US" altLang="en-US" sz="2000"/>
              <a:t>Both the sender and receiver know the algorithm</a:t>
            </a:r>
          </a:p>
          <a:p>
            <a:pPr lvl="1" eaLnBrk="1" hangingPunct="1">
              <a:buFontTx/>
              <a:buNone/>
            </a:pPr>
            <a:endParaRPr lang="en-US" altLang="en-US" sz="2000"/>
          </a:p>
          <a:p>
            <a:pPr lvl="1" eaLnBrk="1" hangingPunct="1">
              <a:buFontTx/>
              <a:buNone/>
            </a:pPr>
            <a:r>
              <a:rPr lang="en-US" altLang="en-US" sz="2000"/>
              <a:t>		Sender				Receiver</a:t>
            </a:r>
          </a:p>
          <a:p>
            <a:pPr lvl="1" eaLnBrk="1" hangingPunct="1">
              <a:buFontTx/>
              <a:buNone/>
            </a:pPr>
            <a:endParaRPr lang="en-US" altLang="en-US" sz="2000"/>
          </a:p>
          <a:p>
            <a:pPr lvl="1"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r>
              <a:rPr lang="en-US" altLang="en-US"/>
              <a:t>		</a:t>
            </a:r>
            <a:r>
              <a:rPr lang="en-US" altLang="en-US" sz="2000"/>
              <a:t>Receiver computes </a:t>
            </a:r>
            <a:r>
              <a:rPr lang="en-US" altLang="en-US" sz="2000" i="1"/>
              <a:t>r</a:t>
            </a:r>
            <a:r>
              <a:rPr lang="en-US" altLang="en-US" sz="2000"/>
              <a:t> using </a:t>
            </a:r>
            <a:r>
              <a:rPr lang="en-US" altLang="en-US" sz="2000" i="1"/>
              <a:t>m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		If they match, no error</a:t>
            </a:r>
            <a:endParaRPr lang="en-US" altLang="en-US"/>
          </a:p>
        </p:txBody>
      </p:sp>
      <p:grpSp>
        <p:nvGrpSpPr>
          <p:cNvPr id="38916" name="Group 7">
            <a:extLst>
              <a:ext uri="{FF2B5EF4-FFF2-40B4-BE49-F238E27FC236}">
                <a16:creationId xmlns:a16="http://schemas.microsoft.com/office/drawing/2014/main" id="{3F404A9B-96B8-4D33-94CB-F85E38F5E427}"/>
              </a:ext>
            </a:extLst>
          </p:cNvPr>
          <p:cNvGrpSpPr>
            <a:grpSpLocks/>
          </p:cNvGrpSpPr>
          <p:nvPr/>
        </p:nvGrpSpPr>
        <p:grpSpPr bwMode="auto">
          <a:xfrm>
            <a:off x="5316538" y="3409950"/>
            <a:ext cx="1219200" cy="442913"/>
            <a:chOff x="1676400" y="3442648"/>
            <a:chExt cx="1219200" cy="443552"/>
          </a:xfrm>
        </p:grpSpPr>
        <p:sp>
          <p:nvSpPr>
            <p:cNvPr id="38920" name="Text Box 5">
              <a:extLst>
                <a:ext uri="{FF2B5EF4-FFF2-40B4-BE49-F238E27FC236}">
                  <a16:creationId xmlns:a16="http://schemas.microsoft.com/office/drawing/2014/main" id="{6FE94B5A-DF30-4409-AA3A-A4C5C8846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444875"/>
              <a:ext cx="609600" cy="441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600"/>
                <a:t>m</a:t>
              </a:r>
            </a:p>
          </p:txBody>
        </p:sp>
        <p:sp>
          <p:nvSpPr>
            <p:cNvPr id="38921" name="Text Box 5">
              <a:extLst>
                <a:ext uri="{FF2B5EF4-FFF2-40B4-BE49-F238E27FC236}">
                  <a16:creationId xmlns:a16="http://schemas.microsoft.com/office/drawing/2014/main" id="{DFD08999-7E8C-4D97-A42D-24FBEBA74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442648"/>
              <a:ext cx="609600" cy="441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600"/>
                <a:t>r</a:t>
              </a:r>
            </a:p>
          </p:txBody>
        </p:sp>
      </p:grpSp>
      <p:grpSp>
        <p:nvGrpSpPr>
          <p:cNvPr id="38917" name="Group 7">
            <a:extLst>
              <a:ext uri="{FF2B5EF4-FFF2-40B4-BE49-F238E27FC236}">
                <a16:creationId xmlns:a16="http://schemas.microsoft.com/office/drawing/2014/main" id="{83862DE2-A56C-430E-8E96-5C09C11F9209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429000"/>
            <a:ext cx="1219200" cy="442913"/>
            <a:chOff x="1676400" y="3442648"/>
            <a:chExt cx="1219200" cy="443552"/>
          </a:xfrm>
        </p:grpSpPr>
        <p:sp>
          <p:nvSpPr>
            <p:cNvPr id="38918" name="Text Box 5">
              <a:extLst>
                <a:ext uri="{FF2B5EF4-FFF2-40B4-BE49-F238E27FC236}">
                  <a16:creationId xmlns:a16="http://schemas.microsoft.com/office/drawing/2014/main" id="{4E12890B-720B-4C2E-9D54-9CC047A34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444875"/>
              <a:ext cx="609600" cy="441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600"/>
                <a:t>m</a:t>
              </a:r>
            </a:p>
          </p:txBody>
        </p:sp>
        <p:sp>
          <p:nvSpPr>
            <p:cNvPr id="38919" name="Text Box 5">
              <a:extLst>
                <a:ext uri="{FF2B5EF4-FFF2-40B4-BE49-F238E27FC236}">
                  <a16:creationId xmlns:a16="http://schemas.microsoft.com/office/drawing/2014/main" id="{574ABCBE-9D12-430C-AFEA-A7E9336A2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442648"/>
              <a:ext cx="609600" cy="441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0000"/>
                <a:buFont typeface="Wingdings" panose="05000000000000000000" pitchFamily="2" charset="2"/>
                <a:defRPr sz="3200">
                  <a:solidFill>
                    <a:schemeClr val="tx1"/>
                  </a:solidFill>
                  <a:latin typeface="Arial Black" panose="020B0A040201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600"/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589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900241A1-F4BD-4314-960B-90ABB9EDD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072755" cy="747897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altLang="en-US" dirty="0"/>
              <a:t>Error Sources in Physical Channels</a:t>
            </a:r>
          </a:p>
          <a:p>
            <a:pPr lvl="1" algn="ctr">
              <a:lnSpc>
                <a:spcPct val="90000"/>
              </a:lnSpc>
            </a:pPr>
            <a:endParaRPr lang="en-US" alt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09BB4-C782-431B-8E7A-F21B5A27B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" y="1462087"/>
            <a:ext cx="90392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89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166891"/>
            <a:ext cx="8018779" cy="1154807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Realtime Bit Error Rate (BER)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98CDE-FD3B-43BE-BA5C-E6E2E4EAF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447800"/>
            <a:ext cx="84772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7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111">
            <a:extLst>
              <a:ext uri="{FF2B5EF4-FFF2-40B4-BE49-F238E27FC236}">
                <a16:creationId xmlns:a16="http://schemas.microsoft.com/office/drawing/2014/main" id="{7F51B7E6-A68F-BE4A-979C-15563FEEBA73}"/>
              </a:ext>
            </a:extLst>
          </p:cNvPr>
          <p:cNvSpPr/>
          <p:nvPr/>
        </p:nvSpPr>
        <p:spPr>
          <a:xfrm>
            <a:off x="1570382" y="3004103"/>
            <a:ext cx="447261" cy="2176670"/>
          </a:xfrm>
          <a:custGeom>
            <a:avLst/>
            <a:gdLst>
              <a:gd name="connsiteX0" fmla="*/ 0 w 596348"/>
              <a:gd name="connsiteY0" fmla="*/ 0 h 2796209"/>
              <a:gd name="connsiteX1" fmla="*/ 0 w 596348"/>
              <a:gd name="connsiteY1" fmla="*/ 2796209 h 2796209"/>
              <a:gd name="connsiteX2" fmla="*/ 596348 w 596348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2796209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94787"/>
            <a:ext cx="8018779" cy="923966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Error detection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317981B-FC40-9845-ACEA-8C6C14F5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291" y="1020517"/>
            <a:ext cx="74021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100" i="0" dirty="0">
                <a:latin typeface="+mn-lt"/>
                <a:cs typeface="+mn-cs"/>
              </a:rPr>
              <a:t>EDC: error detection and correction bits (e.g., redundancy)</a:t>
            </a:r>
          </a:p>
          <a:p>
            <a:pPr>
              <a:defRPr/>
            </a:pPr>
            <a:r>
              <a:rPr lang="en-US" sz="2100" i="0" dirty="0">
                <a:latin typeface="+mn-lt"/>
                <a:cs typeface="+mn-cs"/>
              </a:rPr>
              <a:t>D:  data protected by error checking, may include header fields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1B18EEE-2CFF-5B46-9EEA-5C1698303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094" y="2701895"/>
            <a:ext cx="258665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+mn-lt"/>
                <a:cs typeface="+mn-cs"/>
              </a:rPr>
              <a:t>Error detection not 100% reliable!</a:t>
            </a:r>
          </a:p>
          <a:p>
            <a:pPr marL="303610" lvl="1" indent="-215504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i="0" dirty="0">
                <a:latin typeface="+mn-lt"/>
                <a:cs typeface="+mn-cs"/>
              </a:rPr>
              <a:t>protocol may miss some errors, but rarely</a:t>
            </a:r>
          </a:p>
          <a:p>
            <a:pPr marL="303610" lvl="1" indent="-215504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i="0" dirty="0">
                <a:latin typeface="+mn-lt"/>
                <a:cs typeface="+mn-cs"/>
              </a:rPr>
              <a:t>larger EDC field yields better detection and correction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F3614-B8B3-7B47-811B-B113DE71CD9C}"/>
              </a:ext>
            </a:extLst>
          </p:cNvPr>
          <p:cNvGrpSpPr/>
          <p:nvPr/>
        </p:nvGrpSpPr>
        <p:grpSpPr>
          <a:xfrm>
            <a:off x="1162879" y="3143249"/>
            <a:ext cx="1242392" cy="323165"/>
            <a:chOff x="437322" y="2637183"/>
            <a:chExt cx="1656522" cy="43088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25B757-9F36-8547-AD5E-F5695EE4E0A3}"/>
                </a:ext>
              </a:extLst>
            </p:cNvPr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86D0A8-FCC7-6B4C-9159-12132B3971BD}"/>
                </a:ext>
              </a:extLst>
            </p:cNvPr>
            <p:cNvSpPr txBox="1"/>
            <p:nvPr/>
          </p:nvSpPr>
          <p:spPr>
            <a:xfrm>
              <a:off x="675861" y="2637183"/>
              <a:ext cx="13319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datagram</a:t>
              </a:r>
              <a:endParaRPr lang="en-US" dirty="0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2561F8A-1D0B-DE40-8B84-1CA6B5491E56}"/>
              </a:ext>
            </a:extLst>
          </p:cNvPr>
          <p:cNvGrpSpPr/>
          <p:nvPr/>
        </p:nvGrpSpPr>
        <p:grpSpPr>
          <a:xfrm>
            <a:off x="1175283" y="4191749"/>
            <a:ext cx="1825916" cy="669782"/>
            <a:chOff x="1567043" y="4446000"/>
            <a:chExt cx="2434555" cy="89304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1423F0-A1BA-FF4F-A8D3-75659E8A0BA4}"/>
                </a:ext>
              </a:extLst>
            </p:cNvPr>
            <p:cNvGrpSpPr/>
            <p:nvPr/>
          </p:nvGrpSpPr>
          <p:grpSpPr>
            <a:xfrm>
              <a:off x="1567043" y="4905756"/>
              <a:ext cx="2434555" cy="433287"/>
              <a:chOff x="1904400" y="5169547"/>
              <a:chExt cx="2434555" cy="43328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204CD8F-DCEE-174F-9DDC-16378D58D91B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02CF49-30A4-064E-AFB1-FC182192C60C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43217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</a:t>
                </a:r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71317C-4216-4C43-B388-15C367B65BB8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78910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EDC</a:t>
                </a:r>
                <a:endParaRPr lang="en-US" dirty="0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ABCC57A-846B-9445-8EC5-198834858081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73B4EB-E4C9-6D47-8A33-AAF8C5FB5BC5}"/>
                </a:ext>
              </a:extLst>
            </p:cNvPr>
            <p:cNvGrpSpPr/>
            <p:nvPr/>
          </p:nvGrpSpPr>
          <p:grpSpPr>
            <a:xfrm>
              <a:off x="1571947" y="4446000"/>
              <a:ext cx="1645200" cy="430886"/>
              <a:chOff x="1897200" y="4446000"/>
              <a:chExt cx="1645200" cy="43088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0EFBDBE-EA98-A040-A650-F657EBD89B49}"/>
                  </a:ext>
                </a:extLst>
              </p:cNvPr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5EEAD09-901F-734E-87E5-21A3AC7FEB6F}"/>
                  </a:ext>
                </a:extLst>
              </p:cNvPr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39C20D-EAD3-2B47-9B8D-073C1688C2E3}"/>
                  </a:ext>
                </a:extLst>
              </p:cNvPr>
              <p:cNvSpPr txBox="1"/>
              <p:nvPr/>
            </p:nvSpPr>
            <p:spPr>
              <a:xfrm>
                <a:off x="2088000" y="4446000"/>
                <a:ext cx="1430307" cy="430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 data bits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DA25F4C-C4F2-1145-882F-8365320D7B57}"/>
                  </a:ext>
                </a:extLst>
              </p:cNvPr>
              <p:cNvCxnSpPr/>
              <p:nvPr/>
            </p:nvCxnSpPr>
            <p:spPr>
              <a:xfrm>
                <a:off x="3542400" y="4572000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53742D6-A287-9242-A316-ACB86B5DE59A}"/>
                  </a:ext>
                </a:extLst>
              </p:cNvPr>
              <p:cNvCxnSpPr/>
              <p:nvPr/>
            </p:nvCxnSpPr>
            <p:spPr>
              <a:xfrm>
                <a:off x="1902000" y="4569600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EAA84A3-6E3A-7849-BCAA-4977D967CF20}"/>
              </a:ext>
            </a:extLst>
          </p:cNvPr>
          <p:cNvGrpSpPr/>
          <p:nvPr/>
        </p:nvGrpSpPr>
        <p:grpSpPr>
          <a:xfrm>
            <a:off x="2035783" y="5003685"/>
            <a:ext cx="2009444" cy="327938"/>
            <a:chOff x="3244465" y="6071919"/>
            <a:chExt cx="2679258" cy="437250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9E3893F-ACB5-AD40-A8E9-EAFB99935222}"/>
                </a:ext>
              </a:extLst>
            </p:cNvPr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08EC3E2-ECED-4F4A-AA94-8EC7D14E1C96}"/>
                  </a:ext>
                </a:extLst>
              </p:cNvPr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 rtl="0">
                  <a:defRPr/>
                </a:pPr>
                <a:endParaRPr lang="en-US" sz="1350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D0958D5-2A1C-BB4F-9037-EF68A07E340F}"/>
                  </a:ext>
                </a:extLst>
              </p:cNvPr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 rtl="0">
                  <a:defRPr/>
                </a:pPr>
                <a:endParaRPr lang="en-US" sz="1350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8D02393-68D8-2B41-B21C-E454A7B124E0}"/>
                  </a:ext>
                </a:extLst>
              </p:cNvPr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0000">
                    <a:srgbClr val="7ACCF4"/>
                  </a:gs>
                </a:gsLst>
                <a:lin ang="16200000" scaled="0"/>
                <a:tileRect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 rtl="0">
                  <a:defRPr/>
                </a:pPr>
                <a:endParaRPr lang="en-US" sz="1350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7898BB2-AD26-6D40-9691-3F368167B652}"/>
                  </a:ext>
                </a:extLst>
              </p:cNvPr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 rtl="0">
                  <a:defRPr/>
                </a:pPr>
                <a:endParaRPr lang="en-US" sz="1350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03C8C1-772E-0A43-A380-E4B70DBD5FAE}"/>
                </a:ext>
              </a:extLst>
            </p:cNvPr>
            <p:cNvSpPr txBox="1"/>
            <p:nvPr/>
          </p:nvSpPr>
          <p:spPr>
            <a:xfrm>
              <a:off x="3568996" y="6078283"/>
              <a:ext cx="2212571" cy="430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685800" rtl="0">
                <a:defRPr/>
              </a:pPr>
              <a:r>
                <a:rPr lang="en-US" sz="1500" i="1" dirty="0">
                  <a:latin typeface="Calibri" panose="020F0502020204030204"/>
                </a:rPr>
                <a:t>b</a:t>
              </a:r>
              <a:r>
                <a:rPr lang="en-US" sz="1500" i="1" kern="1200" dirty="0">
                  <a:latin typeface="Calibri" panose="020F0502020204030204"/>
                  <a:ea typeface="+mn-ea"/>
                  <a:cs typeface="+mn-cs"/>
                </a:rPr>
                <a:t>it-error prone link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C5B5BB-AE5C-774A-A52D-9FA9A80A5C3B}"/>
              </a:ext>
            </a:extLst>
          </p:cNvPr>
          <p:cNvGrpSpPr/>
          <p:nvPr/>
        </p:nvGrpSpPr>
        <p:grpSpPr>
          <a:xfrm>
            <a:off x="3496069" y="4395580"/>
            <a:ext cx="1869197" cy="775253"/>
            <a:chOff x="4661425" y="4717774"/>
            <a:chExt cx="2492263" cy="1033670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835B0D2-C006-D94E-8669-286F102B1A07}"/>
                </a:ext>
              </a:extLst>
            </p:cNvPr>
            <p:cNvSpPr/>
            <p:nvPr/>
          </p:nvSpPr>
          <p:spPr>
            <a:xfrm>
              <a:off x="5486400" y="4717774"/>
              <a:ext cx="238539" cy="1033670"/>
            </a:xfrm>
            <a:custGeom>
              <a:avLst/>
              <a:gdLst>
                <a:gd name="connsiteX0" fmla="*/ 0 w 238539"/>
                <a:gd name="connsiteY0" fmla="*/ 1033670 h 1033670"/>
                <a:gd name="connsiteX1" fmla="*/ 238539 w 238539"/>
                <a:gd name="connsiteY1" fmla="*/ 1033670 h 1033670"/>
                <a:gd name="connsiteX2" fmla="*/ 238539 w 238539"/>
                <a:gd name="connsiteY2" fmla="*/ 0 h 1033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539" h="1033670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6E86C6F-6BC6-244B-8ECE-6E6E56AD43C2}"/>
                </a:ext>
              </a:extLst>
            </p:cNvPr>
            <p:cNvGrpSpPr/>
            <p:nvPr/>
          </p:nvGrpSpPr>
          <p:grpSpPr>
            <a:xfrm>
              <a:off x="4661425" y="4890052"/>
              <a:ext cx="2492263" cy="433287"/>
              <a:chOff x="1904400" y="5169547"/>
              <a:chExt cx="2492263" cy="433287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4A7AA7B-0175-DB46-B3C6-ACC0A348568C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3B62150-9929-094D-8252-E74930AA6ADF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48987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D’</a:t>
                </a:r>
                <a:endParaRPr lang="en-US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04AB006-6F9E-2C4F-8C02-58009DF0B39D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84681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EDC’</a:t>
                </a:r>
                <a:endParaRPr lang="en-US" dirty="0"/>
              </a:p>
            </p:txBody>
          </p: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B0DF45A-EDEF-A04A-AC62-14DB9CE04992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7477719-8F6B-0B49-9CE6-E154E3E98AC3}"/>
              </a:ext>
            </a:extLst>
          </p:cNvPr>
          <p:cNvGrpSpPr/>
          <p:nvPr/>
        </p:nvGrpSpPr>
        <p:grpSpPr>
          <a:xfrm>
            <a:off x="3747051" y="3610388"/>
            <a:ext cx="2172284" cy="1002729"/>
            <a:chOff x="4996068" y="3670851"/>
            <a:chExt cx="2896378" cy="1336972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ECD2F859-5B67-AD47-A017-0D9D677086AC}"/>
                </a:ext>
              </a:extLst>
            </p:cNvPr>
            <p:cNvGrpSpPr/>
            <p:nvPr/>
          </p:nvGrpSpPr>
          <p:grpSpPr>
            <a:xfrm>
              <a:off x="4996068" y="3670851"/>
              <a:ext cx="1431235" cy="1336972"/>
              <a:chOff x="6718851" y="5632173"/>
              <a:chExt cx="1431235" cy="1336972"/>
            </a:xfrm>
          </p:grpSpPr>
          <p:sp>
            <p:nvSpPr>
              <p:cNvPr id="122" name="Diamond 121">
                <a:extLst>
                  <a:ext uri="{FF2B5EF4-FFF2-40B4-BE49-F238E27FC236}">
                    <a16:creationId xmlns:a16="http://schemas.microsoft.com/office/drawing/2014/main" id="{77C3078E-D70D-1947-AB61-5F3F5BA57ECC}"/>
                  </a:ext>
                </a:extLst>
              </p:cNvPr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bg1"/>
              </a:solidFill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534033-F306-E14B-A719-79E2267ED6B6}"/>
                  </a:ext>
                </a:extLst>
              </p:cNvPr>
              <p:cNvSpPr txBox="1"/>
              <p:nvPr/>
            </p:nvSpPr>
            <p:spPr>
              <a:xfrm>
                <a:off x="6723138" y="5737184"/>
                <a:ext cx="1426032" cy="1231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US" dirty="0"/>
                  <a:t>all</a:t>
                </a:r>
              </a:p>
              <a:p>
                <a:pPr algn="ctr">
                  <a:lnSpc>
                    <a:spcPct val="75000"/>
                  </a:lnSpc>
                </a:pPr>
                <a:r>
                  <a:rPr lang="en-US" dirty="0"/>
                  <a:t>bits in D’</a:t>
                </a:r>
              </a:p>
              <a:p>
                <a:pPr algn="ctr">
                  <a:lnSpc>
                    <a:spcPct val="75000"/>
                  </a:lnSpc>
                </a:pPr>
                <a:r>
                  <a:rPr lang="en-US" dirty="0"/>
                  <a:t>OK</a:t>
                </a:r>
              </a:p>
              <a:p>
                <a:pPr algn="ctr">
                  <a:lnSpc>
                    <a:spcPct val="75000"/>
                  </a:lnSpc>
                </a:pPr>
                <a:r>
                  <a:rPr lang="en-US" dirty="0"/>
                  <a:t>?</a:t>
                </a: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021AD68-3E2D-D64B-A328-B57D61FCD5C4}"/>
                </a:ext>
              </a:extLst>
            </p:cNvPr>
            <p:cNvSpPr txBox="1"/>
            <p:nvPr/>
          </p:nvSpPr>
          <p:spPr>
            <a:xfrm>
              <a:off x="6440556" y="3843131"/>
              <a:ext cx="43217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</a:t>
              </a:r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B0E09AF-3DA9-004F-B45F-5B25A613D13D}"/>
                </a:ext>
              </a:extLst>
            </p:cNvPr>
            <p:cNvSpPr txBox="1"/>
            <p:nvPr/>
          </p:nvSpPr>
          <p:spPr>
            <a:xfrm>
              <a:off x="6380921" y="4207566"/>
              <a:ext cx="1511525" cy="645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dirty="0"/>
                <a:t>detected </a:t>
              </a:r>
            </a:p>
            <a:p>
              <a:pPr>
                <a:lnSpc>
                  <a:spcPct val="70000"/>
                </a:lnSpc>
              </a:pPr>
              <a:r>
                <a:rPr lang="en-US" dirty="0"/>
                <a:t>error</a:t>
              </a:r>
              <a:endParaRPr lang="en-US" sz="1200" dirty="0"/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01D339A-38B5-234B-AAEE-DB7358965F0D}"/>
                </a:ext>
              </a:extLst>
            </p:cNvPr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7A71D88-0E4D-8640-B2F7-F9EA635D4AEB}"/>
              </a:ext>
            </a:extLst>
          </p:cNvPr>
          <p:cNvGrpSpPr/>
          <p:nvPr/>
        </p:nvGrpSpPr>
        <p:grpSpPr>
          <a:xfrm>
            <a:off x="3513481" y="3023981"/>
            <a:ext cx="1242392" cy="651741"/>
            <a:chOff x="4658138" y="2928730"/>
            <a:chExt cx="1656522" cy="868987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464D525-07D1-0C4E-9322-3E346C68F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E07FFAD-256D-DD4C-A8F2-98E5BA8111F5}"/>
                </a:ext>
              </a:extLst>
            </p:cNvPr>
            <p:cNvCxnSpPr/>
            <p:nvPr/>
          </p:nvCxnSpPr>
          <p:spPr>
            <a:xfrm flipV="1">
              <a:off x="5685182" y="2928730"/>
              <a:ext cx="0" cy="72887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7ACBF32-D0BC-034B-96C6-CAF273BAE74C}"/>
                </a:ext>
              </a:extLst>
            </p:cNvPr>
            <p:cNvSpPr txBox="1"/>
            <p:nvPr/>
          </p:nvSpPr>
          <p:spPr>
            <a:xfrm>
              <a:off x="4696239" y="3498575"/>
              <a:ext cx="1120393" cy="29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sz="1200" dirty="0"/>
                <a:t>otherwise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8FC1D4C-50F1-EC40-9F28-B36E987206D4}"/>
                </a:ext>
              </a:extLst>
            </p:cNvPr>
            <p:cNvGrpSpPr/>
            <p:nvPr/>
          </p:nvGrpSpPr>
          <p:grpSpPr>
            <a:xfrm>
              <a:off x="4658138" y="3028123"/>
              <a:ext cx="1656522" cy="430887"/>
              <a:chOff x="437322" y="2637183"/>
              <a:chExt cx="1656522" cy="43088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FD95C2-2A13-AB48-A445-E8C6B69B2D0C}"/>
                  </a:ext>
                </a:extLst>
              </p:cNvPr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D69FDB-BEE6-4247-8A0A-7662AB11262C}"/>
                  </a:ext>
                </a:extLst>
              </p:cNvPr>
              <p:cNvSpPr txBox="1"/>
              <p:nvPr/>
            </p:nvSpPr>
            <p:spPr>
              <a:xfrm>
                <a:off x="675861" y="2637183"/>
                <a:ext cx="133198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datagram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232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154493"/>
            <a:ext cx="8018779" cy="885932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Parity checking</a:t>
            </a: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9E977DCF-A5D5-D941-A85F-41D595E7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73" y="2098192"/>
            <a:ext cx="2525005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3363" indent="-233363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100" i="0" dirty="0">
                <a:solidFill>
                  <a:srgbClr val="C00000"/>
                </a:solidFill>
                <a:latin typeface="+mn-lt"/>
                <a:cs typeface="+mn-cs"/>
              </a:rPr>
              <a:t>single bit parity</a:t>
            </a:r>
            <a:r>
              <a:rPr lang="en-US" sz="2100" i="0" dirty="0">
                <a:solidFill>
                  <a:srgbClr val="CC0000"/>
                </a:solidFill>
                <a:latin typeface="+mn-lt"/>
                <a:cs typeface="+mn-cs"/>
              </a:rPr>
              <a:t>:</a:t>
            </a:r>
            <a:r>
              <a:rPr lang="en-US" sz="2100" b="1" i="0" dirty="0">
                <a:solidFill>
                  <a:srgbClr val="CC0000"/>
                </a:solidFill>
                <a:latin typeface="+mn-lt"/>
                <a:cs typeface="+mn-cs"/>
              </a:rPr>
              <a:t> </a:t>
            </a:r>
          </a:p>
          <a:p>
            <a:pPr marL="257175" indent="-169069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+mn-lt"/>
                <a:cs typeface="+mn-cs"/>
              </a:rPr>
              <a:t>detect single bit errors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A8807-E53F-544F-951E-4EEC55AED5AF}"/>
              </a:ext>
            </a:extLst>
          </p:cNvPr>
          <p:cNvSpPr/>
          <p:nvPr/>
        </p:nvSpPr>
        <p:spPr>
          <a:xfrm>
            <a:off x="766944" y="2855125"/>
            <a:ext cx="1805583" cy="2866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3EB88-53EC-9343-A0EB-51B17E90A4BE}"/>
              </a:ext>
            </a:extLst>
          </p:cNvPr>
          <p:cNvSpPr txBox="1"/>
          <p:nvPr/>
        </p:nvSpPr>
        <p:spPr>
          <a:xfrm>
            <a:off x="796412" y="2860483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0111000110101011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D6C8C67-D55F-4949-8CB8-AA48957614DA}"/>
              </a:ext>
            </a:extLst>
          </p:cNvPr>
          <p:cNvCxnSpPr>
            <a:cxnSpLocks/>
          </p:cNvCxnSpPr>
          <p:nvPr/>
        </p:nvCxnSpPr>
        <p:spPr>
          <a:xfrm>
            <a:off x="751578" y="3319357"/>
            <a:ext cx="1558211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1496D49-E042-0042-963F-F4D7F6508310}"/>
              </a:ext>
            </a:extLst>
          </p:cNvPr>
          <p:cNvCxnSpPr/>
          <p:nvPr/>
        </p:nvCxnSpPr>
        <p:spPr>
          <a:xfrm>
            <a:off x="2317121" y="3249157"/>
            <a:ext cx="0" cy="140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4B9B26C-C48D-D541-B0C4-CE8674EAC315}"/>
              </a:ext>
            </a:extLst>
          </p:cNvPr>
          <p:cNvCxnSpPr/>
          <p:nvPr/>
        </p:nvCxnSpPr>
        <p:spPr>
          <a:xfrm>
            <a:off x="756112" y="3247357"/>
            <a:ext cx="0" cy="140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6E17DF6-8FA0-3248-ACFA-3B0441E6E0F7}"/>
              </a:ext>
            </a:extLst>
          </p:cNvPr>
          <p:cNvGrpSpPr/>
          <p:nvPr/>
        </p:nvGrpSpPr>
        <p:grpSpPr>
          <a:xfrm>
            <a:off x="2233860" y="2859590"/>
            <a:ext cx="1016236" cy="1104602"/>
            <a:chOff x="2978479" y="2669786"/>
            <a:chExt cx="1354981" cy="147280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7D1C61-D575-204F-B00C-8AF81CED2FA8}"/>
                </a:ext>
              </a:extLst>
            </p:cNvPr>
            <p:cNvSpPr txBox="1"/>
            <p:nvPr/>
          </p:nvSpPr>
          <p:spPr>
            <a:xfrm>
              <a:off x="3093090" y="2669786"/>
              <a:ext cx="417208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63440E5-B865-5441-BB06-030B90DDD147}"/>
                </a:ext>
              </a:extLst>
            </p:cNvPr>
            <p:cNvSpPr txBox="1"/>
            <p:nvPr/>
          </p:nvSpPr>
          <p:spPr>
            <a:xfrm>
              <a:off x="2978479" y="3527036"/>
              <a:ext cx="1354981" cy="61555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500" dirty="0"/>
                <a:t>parity</a:t>
              </a:r>
            </a:p>
            <a:p>
              <a:pPr>
                <a:lnSpc>
                  <a:spcPct val="80000"/>
                </a:lnSpc>
              </a:pPr>
              <a:r>
                <a:rPr lang="en-US" sz="1500" dirty="0"/>
                <a:t>bit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8AC37A-7C69-2A4B-A29F-A98AFD09B784}"/>
                </a:ext>
              </a:extLst>
            </p:cNvPr>
            <p:cNvCxnSpPr/>
            <p:nvPr/>
          </p:nvCxnSpPr>
          <p:spPr>
            <a:xfrm>
              <a:off x="3244610" y="3167702"/>
              <a:ext cx="0" cy="424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71D3D2-CCCB-5845-A95B-3738A1C04862}"/>
              </a:ext>
            </a:extLst>
          </p:cNvPr>
          <p:cNvCxnSpPr>
            <a:cxnSpLocks/>
          </p:cNvCxnSpPr>
          <p:nvPr/>
        </p:nvCxnSpPr>
        <p:spPr>
          <a:xfrm>
            <a:off x="2319158" y="2856398"/>
            <a:ext cx="0" cy="2904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842BAE3-D3AC-CD49-9147-12EDA7BFAFE5}"/>
              </a:ext>
            </a:extLst>
          </p:cNvPr>
          <p:cNvSpPr txBox="1"/>
          <p:nvPr/>
        </p:nvSpPr>
        <p:spPr>
          <a:xfrm>
            <a:off x="1075951" y="3199384"/>
            <a:ext cx="101623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500" dirty="0"/>
              <a:t>d data bits</a:t>
            </a: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51CC5DA7-C934-BA4D-AD2C-59DF1BDF9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592" y="2095561"/>
            <a:ext cx="369684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100" i="0" dirty="0">
                <a:solidFill>
                  <a:srgbClr val="C00000"/>
                </a:solidFill>
                <a:latin typeface="+mn-lt"/>
                <a:cs typeface="+mn-cs"/>
              </a:rPr>
              <a:t>two-dimensional bit parity:</a:t>
            </a:r>
          </a:p>
          <a:p>
            <a:pPr marL="215504" indent="-127397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+mn-lt"/>
                <a:cs typeface="+mn-cs"/>
              </a:rPr>
              <a:t> detect </a:t>
            </a:r>
            <a:r>
              <a:rPr lang="en-US" dirty="0">
                <a:solidFill>
                  <a:srgbClr val="0000A8"/>
                </a:solidFill>
                <a:latin typeface="+mn-lt"/>
                <a:cs typeface="+mn-cs"/>
              </a:rPr>
              <a:t>and correct </a:t>
            </a:r>
            <a:r>
              <a:rPr lang="en-US" i="0" dirty="0">
                <a:latin typeface="+mn-lt"/>
                <a:cs typeface="+mn-cs"/>
              </a:rPr>
              <a:t>single bit errors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8C37ED-BA12-F647-B652-095F6C8D89DE}"/>
              </a:ext>
            </a:extLst>
          </p:cNvPr>
          <p:cNvGrpSpPr/>
          <p:nvPr/>
        </p:nvGrpSpPr>
        <p:grpSpPr>
          <a:xfrm>
            <a:off x="4038881" y="2748171"/>
            <a:ext cx="2838449" cy="1841184"/>
            <a:chOff x="7326619" y="2584175"/>
            <a:chExt cx="3784598" cy="245491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DE48D5F-A407-C04B-A9C2-E5D98B0C44D3}"/>
                </a:ext>
              </a:extLst>
            </p:cNvPr>
            <p:cNvGrpSpPr/>
            <p:nvPr/>
          </p:nvGrpSpPr>
          <p:grpSpPr>
            <a:xfrm>
              <a:off x="8263305" y="2908577"/>
              <a:ext cx="697811" cy="1434819"/>
              <a:chOff x="6586330" y="2915478"/>
              <a:chExt cx="697811" cy="143481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44698D-E6CC-C449-A789-8924D0498FBB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62453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1,1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D039C23-D73F-5448-A103-2F2CF92B8164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2,1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A2BF1DC-83F3-C249-9145-C7CA5434E98C}"/>
                  </a:ext>
                </a:extLst>
              </p:cNvPr>
              <p:cNvSpPr txBox="1"/>
              <p:nvPr/>
            </p:nvSpPr>
            <p:spPr>
              <a:xfrm>
                <a:off x="6588401" y="3776866"/>
                <a:ext cx="69574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i,1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D22450-166D-9C48-8C6B-D1175FAF940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86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. . 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CBE1618-E8B9-6748-BC30-FB0ED8C27B44}"/>
                </a:ext>
              </a:extLst>
            </p:cNvPr>
            <p:cNvGrpSpPr/>
            <p:nvPr/>
          </p:nvGrpSpPr>
          <p:grpSpPr>
            <a:xfrm>
              <a:off x="10324987" y="2929914"/>
              <a:ext cx="763458" cy="1497460"/>
              <a:chOff x="6586330" y="2915478"/>
              <a:chExt cx="763458" cy="1497460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40664BB-FF10-8E40-9786-2DB15D82D03E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7634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1,j+1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757CDDD-B6F5-CB41-9A45-7536B85F31BC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39" cy="636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2,j+1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09D6BC-B9C0-F343-90A3-B758C9CDE995}"/>
                  </a:ext>
                </a:extLst>
              </p:cNvPr>
              <p:cNvSpPr txBox="1"/>
              <p:nvPr/>
            </p:nvSpPr>
            <p:spPr>
              <a:xfrm>
                <a:off x="6588401" y="3776866"/>
                <a:ext cx="695739" cy="636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i,j+1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439B942-1521-4148-92A1-4DF98667A5C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86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. . .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37B252-F326-3D41-A273-920CA835FE83}"/>
                </a:ext>
              </a:extLst>
            </p:cNvPr>
            <p:cNvSpPr txBox="1"/>
            <p:nvPr/>
          </p:nvSpPr>
          <p:spPr>
            <a:xfrm>
              <a:off x="9118145" y="4177313"/>
              <a:ext cx="62800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71CB392-B504-9D4B-B190-2D8CE6EC381B}"/>
                </a:ext>
              </a:extLst>
            </p:cNvPr>
            <p:cNvGrpSpPr/>
            <p:nvPr/>
          </p:nvGrpSpPr>
          <p:grpSpPr>
            <a:xfrm>
              <a:off x="9722377" y="2910339"/>
              <a:ext cx="697811" cy="1434819"/>
              <a:chOff x="6586330" y="2915478"/>
              <a:chExt cx="697811" cy="1434819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13C2A54-86CC-EE45-930A-2F1B5F76F1C6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56896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1,j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D2317C2-620E-B441-B816-82ABFCA865CE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2,j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3E4A7B0-DEC7-9840-9098-E16CFD3E48DB}"/>
                  </a:ext>
                </a:extLst>
              </p:cNvPr>
              <p:cNvSpPr txBox="1"/>
              <p:nvPr/>
            </p:nvSpPr>
            <p:spPr>
              <a:xfrm>
                <a:off x="6588401" y="3776866"/>
                <a:ext cx="69574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/>
                  <a:t>d</a:t>
                </a:r>
                <a:r>
                  <a:rPr lang="en-US" sz="1500" baseline="-25000" dirty="0" err="1"/>
                  <a:t>i,j</a:t>
                </a:r>
                <a:endParaRPr lang="en-US" sz="1500" baseline="-25000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AD0FFBC-3E5D-B747-A2D9-8C7CCF8AF033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86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. . .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299630-3B5D-FA41-BE50-0635687D6C07}"/>
                </a:ext>
              </a:extLst>
            </p:cNvPr>
            <p:cNvGrpSpPr/>
            <p:nvPr/>
          </p:nvGrpSpPr>
          <p:grpSpPr>
            <a:xfrm>
              <a:off x="8262620" y="4202830"/>
              <a:ext cx="2848597" cy="671713"/>
              <a:chOff x="8262620" y="4431427"/>
              <a:chExt cx="2848597" cy="671713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9FC4B06-FE86-0241-A54D-2E39511522A6}"/>
                  </a:ext>
                </a:extLst>
              </p:cNvPr>
              <p:cNvSpPr txBox="1"/>
              <p:nvPr/>
            </p:nvSpPr>
            <p:spPr>
              <a:xfrm>
                <a:off x="8262620" y="4431427"/>
                <a:ext cx="76345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i+1,1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81BBA99-E820-A847-ADAB-D0C1352EF8AF}"/>
                  </a:ext>
                </a:extLst>
              </p:cNvPr>
              <p:cNvSpPr txBox="1"/>
              <p:nvPr/>
            </p:nvSpPr>
            <p:spPr>
              <a:xfrm>
                <a:off x="10329998" y="4467068"/>
                <a:ext cx="781219" cy="636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i+1,j+1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3A70BE1-4344-514A-9FD8-EEDB3D90BE1F}"/>
                  </a:ext>
                </a:extLst>
              </p:cNvPr>
              <p:cNvSpPr txBox="1"/>
              <p:nvPr/>
            </p:nvSpPr>
            <p:spPr>
              <a:xfrm>
                <a:off x="9727388" y="4447494"/>
                <a:ext cx="781219" cy="430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d</a:t>
                </a:r>
                <a:r>
                  <a:rPr lang="en-US" sz="1500" baseline="-25000" dirty="0"/>
                  <a:t>i+1,j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192B66-3D53-C344-8E15-4A113F550BCC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4214192"/>
              <a:ext cx="20872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3EDC64F-75DF-3544-940A-FF23612E6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5100" y="3064566"/>
              <a:ext cx="0" cy="12887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4B65393-F205-D44E-859B-6DDFD00A54AB}"/>
                </a:ext>
              </a:extLst>
            </p:cNvPr>
            <p:cNvSpPr txBox="1"/>
            <p:nvPr/>
          </p:nvSpPr>
          <p:spPr>
            <a:xfrm>
              <a:off x="9111519" y="3792998"/>
              <a:ext cx="62800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F246479-82B6-CC42-AA75-38590A7183FB}"/>
                </a:ext>
              </a:extLst>
            </p:cNvPr>
            <p:cNvSpPr txBox="1"/>
            <p:nvPr/>
          </p:nvSpPr>
          <p:spPr>
            <a:xfrm>
              <a:off x="9104893" y="3478259"/>
              <a:ext cx="62800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8E25CB-A5E5-7746-A6CE-70F20EABDD13}"/>
                </a:ext>
              </a:extLst>
            </p:cNvPr>
            <p:cNvSpPr txBox="1"/>
            <p:nvPr/>
          </p:nvSpPr>
          <p:spPr>
            <a:xfrm>
              <a:off x="9108205" y="3183395"/>
              <a:ext cx="62800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1623188-ECD3-CD45-9B38-1810F9AC34B4}"/>
                </a:ext>
              </a:extLst>
            </p:cNvPr>
            <p:cNvSpPr txBox="1"/>
            <p:nvPr/>
          </p:nvSpPr>
          <p:spPr>
            <a:xfrm>
              <a:off x="9111519" y="2878596"/>
              <a:ext cx="62800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5C454A-9055-274C-8AE9-BC10FD110ACF}"/>
                </a:ext>
              </a:extLst>
            </p:cNvPr>
            <p:cNvSpPr txBox="1"/>
            <p:nvPr/>
          </p:nvSpPr>
          <p:spPr>
            <a:xfrm>
              <a:off x="9670775" y="2584175"/>
              <a:ext cx="1133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row parity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6F66526-ADFA-E742-BBA6-59931424B985}"/>
                </a:ext>
              </a:extLst>
            </p:cNvPr>
            <p:cNvSpPr txBox="1"/>
            <p:nvPr/>
          </p:nvSpPr>
          <p:spPr>
            <a:xfrm>
              <a:off x="7326619" y="3998845"/>
              <a:ext cx="904522" cy="517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200" dirty="0"/>
                <a:t>column</a:t>
              </a:r>
            </a:p>
            <a:p>
              <a:pPr algn="r">
                <a:lnSpc>
                  <a:spcPct val="80000"/>
                </a:lnSpc>
              </a:pPr>
              <a:r>
                <a:rPr lang="en-US" sz="1200" dirty="0"/>
                <a:t> parity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C8D069-C2ED-A44C-9956-17294561F5BD}"/>
                </a:ext>
              </a:extLst>
            </p:cNvPr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0D686DE-0503-804F-B89F-FF5DF77D52F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795591" y="4137991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F0D65EA-2DEF-EC4A-A451-345D32D5A3CC}"/>
              </a:ext>
            </a:extLst>
          </p:cNvPr>
          <p:cNvGrpSpPr/>
          <p:nvPr/>
        </p:nvGrpSpPr>
        <p:grpSpPr>
          <a:xfrm>
            <a:off x="3113237" y="4560797"/>
            <a:ext cx="2176397" cy="1007884"/>
            <a:chOff x="3800015" y="4868761"/>
            <a:chExt cx="2901861" cy="1343846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DDE17ED-6E8D-F04B-9604-B0A5821E38CF}"/>
                </a:ext>
              </a:extLst>
            </p:cNvPr>
            <p:cNvSpPr txBox="1"/>
            <p:nvPr/>
          </p:nvSpPr>
          <p:spPr>
            <a:xfrm>
              <a:off x="4903522" y="5428506"/>
              <a:ext cx="178510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0 1 1 1 0  1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CF0E5F5-1A73-CD45-BE51-8A71F0B1AF92}"/>
                </a:ext>
              </a:extLst>
            </p:cNvPr>
            <p:cNvGrpSpPr/>
            <p:nvPr/>
          </p:nvGrpSpPr>
          <p:grpSpPr>
            <a:xfrm>
              <a:off x="4910146" y="4875335"/>
              <a:ext cx="1791730" cy="1337272"/>
              <a:chOff x="6394173" y="4840358"/>
              <a:chExt cx="1791730" cy="1337272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E00D9F1-D52C-844A-BE08-19ADE51A3710}"/>
                  </a:ext>
                </a:extLst>
              </p:cNvPr>
              <p:cNvSpPr txBox="1"/>
              <p:nvPr/>
            </p:nvSpPr>
            <p:spPr>
              <a:xfrm>
                <a:off x="6400800" y="4840358"/>
                <a:ext cx="178510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1 0 1 0 1  1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4D5B75B-274E-994B-B768-CAAFF3CC0506}"/>
                  </a:ext>
                </a:extLst>
              </p:cNvPr>
              <p:cNvSpPr txBox="1"/>
              <p:nvPr/>
            </p:nvSpPr>
            <p:spPr>
              <a:xfrm>
                <a:off x="6394173" y="5121969"/>
                <a:ext cx="178510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1 1 1 1 0  0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EC65261-0C24-C74C-8E9A-2A56766B1C75}"/>
                  </a:ext>
                </a:extLst>
              </p:cNvPr>
              <p:cNvSpPr txBox="1"/>
              <p:nvPr/>
            </p:nvSpPr>
            <p:spPr>
              <a:xfrm>
                <a:off x="6395912" y="5685187"/>
                <a:ext cx="178510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1 0 1 0 1  0</a:t>
                </a: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153A1B6-BE52-3A4D-8CDE-7C98D4727C7E}"/>
                  </a:ext>
                </a:extLst>
              </p:cNvPr>
              <p:cNvCxnSpPr/>
              <p:nvPr/>
            </p:nvCxnSpPr>
            <p:spPr>
              <a:xfrm>
                <a:off x="6480748" y="5751227"/>
                <a:ext cx="101933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4F6AD3BF-7B3D-5B44-8D09-3017B18E80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828021" y="5453922"/>
                <a:ext cx="101933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4EFFD78-C794-F24E-BE55-B812FA8E6373}"/>
                </a:ext>
              </a:extLst>
            </p:cNvPr>
            <p:cNvSpPr txBox="1"/>
            <p:nvPr/>
          </p:nvSpPr>
          <p:spPr>
            <a:xfrm>
              <a:off x="3800015" y="4868761"/>
              <a:ext cx="156282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errors: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5F11DFB-A088-D946-95D1-3C03DAB781A8}"/>
              </a:ext>
            </a:extLst>
          </p:cNvPr>
          <p:cNvGrpSpPr/>
          <p:nvPr/>
        </p:nvGrpSpPr>
        <p:grpSpPr>
          <a:xfrm>
            <a:off x="5416828" y="4564957"/>
            <a:ext cx="2540811" cy="1894535"/>
            <a:chOff x="7222435" y="4943606"/>
            <a:chExt cx="3387747" cy="2526045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CD17221-4739-6841-AA86-FAC94BED7B08}"/>
                </a:ext>
              </a:extLst>
            </p:cNvPr>
            <p:cNvGrpSpPr/>
            <p:nvPr/>
          </p:nvGrpSpPr>
          <p:grpSpPr>
            <a:xfrm>
              <a:off x="8752840" y="4943606"/>
              <a:ext cx="1857342" cy="1646722"/>
              <a:chOff x="5890374" y="4811085"/>
              <a:chExt cx="1857342" cy="1646722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D5F2AFD-4DA1-594C-BF85-194456577EE9}"/>
                  </a:ext>
                </a:extLst>
              </p:cNvPr>
              <p:cNvGrpSpPr/>
              <p:nvPr/>
            </p:nvGrpSpPr>
            <p:grpSpPr>
              <a:xfrm>
                <a:off x="5890374" y="4812876"/>
                <a:ext cx="1857342" cy="1644931"/>
                <a:chOff x="4903522" y="4875335"/>
                <a:chExt cx="1857342" cy="1644931"/>
              </a:xfrm>
            </p:grpSpPr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B89F2045-70A1-F94B-8859-95531C4604F9}"/>
                    </a:ext>
                  </a:extLst>
                </p:cNvPr>
                <p:cNvSpPr txBox="1"/>
                <p:nvPr/>
              </p:nvSpPr>
              <p:spPr>
                <a:xfrm>
                  <a:off x="4903522" y="5428507"/>
                  <a:ext cx="1785104" cy="492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0 1 1 1 0  1</a:t>
                  </a:r>
                </a:p>
              </p:txBody>
            </p: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AC319AFE-17A7-2B4C-8668-7FE48598E0BE}"/>
                    </a:ext>
                  </a:extLst>
                </p:cNvPr>
                <p:cNvGrpSpPr/>
                <p:nvPr/>
              </p:nvGrpSpPr>
              <p:grpSpPr>
                <a:xfrm>
                  <a:off x="4910146" y="4875335"/>
                  <a:ext cx="1791730" cy="1337272"/>
                  <a:chOff x="6394173" y="4840358"/>
                  <a:chExt cx="1791730" cy="1337272"/>
                </a:xfrm>
              </p:grpSpPr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B0E8F038-35AD-0946-9AF8-3B82D62EFAD1}"/>
                      </a:ext>
                    </a:extLst>
                  </p:cNvPr>
                  <p:cNvSpPr txBox="1"/>
                  <p:nvPr/>
                </p:nvSpPr>
                <p:spPr>
                  <a:xfrm>
                    <a:off x="6400800" y="4840358"/>
                    <a:ext cx="1785103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1 0 1 0 1  1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1B46CC5B-41FC-3046-A483-F2909BFB7D31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173" y="5121969"/>
                    <a:ext cx="1785103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 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0</a:t>
                    </a:r>
                    <a:r>
                      <a:rPr lang="en-US" dirty="0"/>
                      <a:t> 1 1 0  0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46418A9F-75BF-B047-85AA-68BAE639890F}"/>
                      </a:ext>
                    </a:extLst>
                  </p:cNvPr>
                  <p:cNvSpPr txBox="1"/>
                  <p:nvPr/>
                </p:nvSpPr>
                <p:spPr>
                  <a:xfrm>
                    <a:off x="6395912" y="5685187"/>
                    <a:ext cx="1785103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1 0 1 0 1  0</a:t>
                    </a:r>
                  </a:p>
                </p:txBody>
              </p: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A7665A79-628F-EF47-A9DA-75CCD8B6F9D1}"/>
                      </a:ext>
                    </a:extLst>
                  </p:cNvPr>
                  <p:cNvCxnSpPr/>
                  <p:nvPr/>
                </p:nvCxnSpPr>
                <p:spPr>
                  <a:xfrm>
                    <a:off x="6480748" y="5751227"/>
                    <a:ext cx="101933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506629B4-5BDA-B443-9A30-1237824981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828021" y="5453922"/>
                    <a:ext cx="101933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234B127E-41D4-8C49-8FF0-07C5874E8EF9}"/>
                    </a:ext>
                  </a:extLst>
                </p:cNvPr>
                <p:cNvSpPr txBox="1"/>
                <p:nvPr/>
              </p:nvSpPr>
              <p:spPr>
                <a:xfrm>
                  <a:off x="4919022" y="6135973"/>
                  <a:ext cx="622393" cy="38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900" dirty="0">
                      <a:solidFill>
                        <a:srgbClr val="C00000"/>
                      </a:solidFill>
                    </a:rPr>
                    <a:t>parity</a:t>
                  </a:r>
                </a:p>
                <a:p>
                  <a:pPr algn="ctr">
                    <a:lnSpc>
                      <a:spcPct val="70000"/>
                    </a:lnSpc>
                  </a:pPr>
                  <a:r>
                    <a:rPr lang="en-US" sz="900" dirty="0">
                      <a:solidFill>
                        <a:srgbClr val="C00000"/>
                      </a:solidFill>
                    </a:rPr>
                    <a:t>error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73E8487-5115-ED45-91CD-12473E6CE35C}"/>
                    </a:ext>
                  </a:extLst>
                </p:cNvPr>
                <p:cNvSpPr txBox="1"/>
                <p:nvPr/>
              </p:nvSpPr>
              <p:spPr>
                <a:xfrm>
                  <a:off x="6138472" y="5164111"/>
                  <a:ext cx="622392" cy="38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70000"/>
                    </a:lnSpc>
                  </a:pPr>
                  <a:r>
                    <a:rPr lang="en-US" sz="900" dirty="0">
                      <a:solidFill>
                        <a:srgbClr val="C00000"/>
                      </a:solidFill>
                    </a:rPr>
                    <a:t>parity</a:t>
                  </a:r>
                </a:p>
                <a:p>
                  <a:pPr>
                    <a:lnSpc>
                      <a:spcPct val="70000"/>
                    </a:lnSpc>
                  </a:pPr>
                  <a:r>
                    <a:rPr lang="en-US" sz="900" dirty="0">
                      <a:solidFill>
                        <a:srgbClr val="C00000"/>
                      </a:solidFill>
                    </a:rPr>
                    <a:t>error</a:t>
                  </a:r>
                </a:p>
              </p:txBody>
            </p:sp>
          </p:grp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D1057B9-5603-6B48-B071-08FE0B7172F9}"/>
                  </a:ext>
                </a:extLst>
              </p:cNvPr>
              <p:cNvCxnSpPr>
                <a:stCxn id="145" idx="1"/>
              </p:cNvCxnSpPr>
              <p:nvPr/>
            </p:nvCxnSpPr>
            <p:spPr>
              <a:xfrm flipV="1">
                <a:off x="5896998" y="5271541"/>
                <a:ext cx="1303277" cy="69167"/>
              </a:xfrm>
              <a:prstGeom prst="straightConnector1">
                <a:avLst/>
              </a:prstGeom>
              <a:ln w="158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CCC6F7F0-B384-914D-A818-618271BAAA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564716" y="5458918"/>
                <a:ext cx="1303277" cy="7611"/>
              </a:xfrm>
              <a:prstGeom prst="straightConnector1">
                <a:avLst/>
              </a:prstGeom>
              <a:ln w="158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248BD76-7CB1-F24E-9D14-EBFA827837AC}"/>
                </a:ext>
              </a:extLst>
            </p:cNvPr>
            <p:cNvSpPr txBox="1"/>
            <p:nvPr/>
          </p:nvSpPr>
          <p:spPr>
            <a:xfrm>
              <a:off x="7222435" y="4982817"/>
              <a:ext cx="1411353" cy="2486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detected</a:t>
              </a:r>
            </a:p>
            <a:p>
              <a:pPr algn="r">
                <a:lnSpc>
                  <a:spcPct val="80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and</a:t>
              </a:r>
            </a:p>
            <a:p>
              <a:pPr algn="r">
                <a:lnSpc>
                  <a:spcPct val="80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correctable</a:t>
              </a:r>
            </a:p>
            <a:p>
              <a:pPr algn="r">
                <a:lnSpc>
                  <a:spcPct val="80000"/>
                </a:lnSpc>
              </a:pPr>
              <a:r>
                <a:rPr lang="en-US" dirty="0"/>
                <a:t>single-bit</a:t>
              </a:r>
            </a:p>
            <a:p>
              <a:pPr algn="r">
                <a:lnSpc>
                  <a:spcPct val="80000"/>
                </a:lnSpc>
              </a:pPr>
              <a:r>
                <a:rPr lang="en-US" dirty="0"/>
                <a:t>error: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901A173-DAE6-384F-9E84-A6924D058027}"/>
              </a:ext>
            </a:extLst>
          </p:cNvPr>
          <p:cNvSpPr txBox="1"/>
          <p:nvPr/>
        </p:nvSpPr>
        <p:spPr>
          <a:xfrm>
            <a:off x="725557" y="4050953"/>
            <a:ext cx="204746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0000A8"/>
                </a:solidFill>
              </a:rPr>
              <a:t>Even parity: </a:t>
            </a:r>
            <a:r>
              <a:rPr lang="en-US" sz="1500" dirty="0"/>
              <a:t>set parity bit so there is an even number of 1’s</a:t>
            </a:r>
          </a:p>
        </p:txBody>
      </p:sp>
      <p:sp>
        <p:nvSpPr>
          <p:cNvPr id="151" name="TextBox 1">
            <a:extLst>
              <a:ext uri="{FF2B5EF4-FFF2-40B4-BE49-F238E27FC236}">
                <a16:creationId xmlns:a16="http://schemas.microsoft.com/office/drawing/2014/main" id="{676B03FA-F97E-8D4F-A163-CA316F4C5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70" y="5506321"/>
            <a:ext cx="338037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050" dirty="0"/>
              <a:t>* Check out the online interactive exercises for more examples: h</a:t>
            </a:r>
            <a:r>
              <a:rPr lang="en-US" sz="9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401435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9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154493"/>
            <a:ext cx="8018779" cy="885932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Single Bit Parity checking (Even Parity)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C53E6-18B6-4B20-93EB-EA24F97C1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7239000" cy="436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8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154493"/>
            <a:ext cx="8018779" cy="885932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Single Bit Parity checking (Capability)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8C497-AFD8-467E-B427-F14E9656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08" y="1752600"/>
            <a:ext cx="799648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B477E06-9EC8-41E7-90E6-CA25520C9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750184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339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946ED55-B405-43A0-B7F7-AAD7B3415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Two-dimensional parity</a:t>
            </a:r>
            <a:endParaRPr lang="en-AU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645A920-6FF8-448A-B5BB-9FD09F512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Two-dimensional parity is exactly what the name suggests</a:t>
            </a:r>
          </a:p>
          <a:p>
            <a:r>
              <a:rPr lang="en-US" altLang="en-US" sz="2800"/>
              <a:t>It is based on “simple” (one-dimensional) parity, which usually involves adding one extra bit to a 7-bit code to balance the number of 1s in the byte. For example, </a:t>
            </a:r>
          </a:p>
          <a:p>
            <a:pPr lvl="1"/>
            <a:r>
              <a:rPr lang="en-US" altLang="en-US" sz="2400"/>
              <a:t>Odd parity sets the eighth bit to 1 if needed to give an odd number of 1s in the byte, and</a:t>
            </a:r>
          </a:p>
          <a:p>
            <a:pPr lvl="1"/>
            <a:r>
              <a:rPr lang="en-US" altLang="en-US" sz="2400"/>
              <a:t>Even parity sets the eighth bit to 1 if needed to give an even number of 1s in the byte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A335DC5-3601-4831-820E-55627244F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Two-dimensional parity</a:t>
            </a:r>
            <a:endParaRPr lang="en-AU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8934810-DCF0-43FF-AE06-525260DC1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Two-dimensional parity does a similar calculation for each bit position across each of the bytes contained in the frame</a:t>
            </a:r>
          </a:p>
          <a:p>
            <a:r>
              <a:rPr lang="en-US" altLang="en-US" sz="2800"/>
              <a:t>This results in an extra parity byte for the entire frame, in addition to a parity bit for each byte</a:t>
            </a:r>
          </a:p>
          <a:p>
            <a:r>
              <a:rPr lang="en-US" altLang="en-US" sz="2800"/>
              <a:t>Two-dimensional parity catches all 1-, 2-, and 3-bit errors and most 4-bit errors</a:t>
            </a:r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5" descr="f02-14-9780123850591 copy">
            <a:extLst>
              <a:ext uri="{FF2B5EF4-FFF2-40B4-BE49-F238E27FC236}">
                <a16:creationId xmlns:a16="http://schemas.microsoft.com/office/drawing/2014/main" id="{B53421B1-CEF9-4388-B1D4-5E770E565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052513"/>
            <a:ext cx="2592388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2">
            <a:extLst>
              <a:ext uri="{FF2B5EF4-FFF2-40B4-BE49-F238E27FC236}">
                <a16:creationId xmlns:a16="http://schemas.microsoft.com/office/drawing/2014/main" id="{20C1EE11-7310-4067-998B-E7DB6DCDD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Two-dimensional parity</a:t>
            </a:r>
            <a:endParaRPr lang="en-GB" altLang="en-US"/>
          </a:p>
        </p:txBody>
      </p:sp>
      <p:sp>
        <p:nvSpPr>
          <p:cNvPr id="41988" name="Text Box 8">
            <a:extLst>
              <a:ext uri="{FF2B5EF4-FFF2-40B4-BE49-F238E27FC236}">
                <a16:creationId xmlns:a16="http://schemas.microsoft.com/office/drawing/2014/main" id="{E14C438C-E863-465B-ACEA-8534040CB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229225"/>
            <a:ext cx="286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66"/>
                </a:solidFill>
                <a:latin typeface="Arial" panose="020B0604020202020204" pitchFamily="34" charset="0"/>
              </a:rPr>
              <a:t>Two Dimensional Parity</a:t>
            </a:r>
            <a:endParaRPr lang="en-GB" altLang="en-US" sz="20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10" y="154493"/>
            <a:ext cx="8018779" cy="885932"/>
          </a:xfrm>
        </p:spPr>
        <p:txBody>
          <a:bodyPr/>
          <a:lstStyle/>
          <a:p>
            <a:pPr algn="ctr"/>
            <a:r>
              <a:rPr lang="en-US" b="0" dirty="0">
                <a:latin typeface="+mn-lt"/>
              </a:rPr>
              <a:t>2D Bit Parity checking (Longitudinal + Vertical)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F8B43-2951-456D-AA26-7D3B8CE4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295400"/>
            <a:ext cx="8267700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074244"/>
            <a:ext cx="8325469" cy="670967"/>
          </a:xfrm>
        </p:spPr>
        <p:txBody>
          <a:bodyPr>
            <a:normAutofit/>
          </a:bodyPr>
          <a:lstStyle/>
          <a:p>
            <a:r>
              <a:rPr lang="en-US" dirty="0"/>
              <a:t>Internet checksum 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742950" y="2521458"/>
            <a:ext cx="3496541" cy="335855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sender</a:t>
            </a: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treat contents of UDP segment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(including UDP header fields and IP addresses)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as sequence of 16-bit integers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checksum: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addition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(one’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complement sum)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of segment content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checksum value put into UDP checksum field</a:t>
            </a: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4325866" y="2456918"/>
            <a:ext cx="4296641" cy="30618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receiver</a:t>
            </a:r>
            <a:r>
              <a:rPr lang="en-US" altLang="en-US" sz="2625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compute checksum of received segment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check if computed checksum equals checksum field value: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 equal - error detected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equal - no error detected.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But maybe errors nonetheless?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More later ….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18" y="1885665"/>
            <a:ext cx="8325468" cy="63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l" defTabSz="685800" rtl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en-US" sz="2400" i="1" kern="1200" dirty="0">
                <a:solidFill>
                  <a:srgbClr val="C00000"/>
                </a:solidFill>
                <a:latin typeface="Calibri" panose="020F0502020204030204"/>
                <a:cs typeface="+mn-cs"/>
              </a:rPr>
              <a:t>Goal</a:t>
            </a:r>
            <a:r>
              <a:rPr lang="en-US" altLang="en-US" sz="2400" i="1" kern="1200" dirty="0">
                <a:solidFill>
                  <a:srgbClr val="CC0000"/>
                </a:solidFill>
                <a:latin typeface="Calibri" panose="020F0502020204030204"/>
                <a:cs typeface="+mn-cs"/>
              </a:rPr>
              <a:t>:</a:t>
            </a:r>
            <a:r>
              <a:rPr lang="en-US" altLang="en-US" sz="2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 detect </a:t>
            </a:r>
            <a:r>
              <a:rPr lang="en-US" altLang="ja-JP" sz="2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errors (</a:t>
            </a:r>
            <a:r>
              <a:rPr lang="en-US" altLang="ja-JP" sz="2400" i="1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i.e., </a:t>
            </a:r>
            <a:r>
              <a:rPr lang="en-US" altLang="ja-JP" sz="24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flipped bits) in transmitted segment</a:t>
            </a:r>
          </a:p>
          <a:p>
            <a:pPr marL="257175" indent="-257175" algn="l" defTabSz="685800" rtl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en-US" sz="2100" kern="1200" dirty="0">
              <a:solidFill>
                <a:prstClr val="black"/>
              </a:solidFill>
              <a:latin typeface="Gill Sans MT" panose="020B0502020104020203" pitchFamily="34" charset="77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5716843"/>
            <a:ext cx="2057400" cy="219291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5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529325"/>
            <a:ext cx="8325469" cy="6709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Internet checksum 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742950" y="2521458"/>
            <a:ext cx="3496541" cy="335855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18" y="1885665"/>
            <a:ext cx="8325468" cy="63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l" defTabSz="685800" rtl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en-US" sz="2100" kern="1200" dirty="0">
              <a:solidFill>
                <a:prstClr val="black"/>
              </a:solidFill>
              <a:latin typeface="Gill Sans MT" panose="020B0502020104020203" pitchFamily="34" charset="77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5716843"/>
            <a:ext cx="2057400" cy="219291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71C08-E9AB-463A-B0E1-669DBD7C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76400"/>
            <a:ext cx="81153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529325"/>
            <a:ext cx="8325469" cy="6709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Compliment Arithmetic Example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742950" y="2521458"/>
            <a:ext cx="3496541" cy="335855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18" y="1885665"/>
            <a:ext cx="8325468" cy="63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l" defTabSz="685800" rtl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en-US" sz="2100" kern="1200" dirty="0">
              <a:solidFill>
                <a:prstClr val="black"/>
              </a:solidFill>
              <a:latin typeface="Gill Sans MT" panose="020B0502020104020203" pitchFamily="34" charset="77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5716843"/>
            <a:ext cx="2057400" cy="219291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1CDD5-5540-44D0-8A0B-2B4405366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276350"/>
            <a:ext cx="71818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6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8179195-BEF6-45A0-BBE5-67FE9B96D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5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5082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FC2F94E-C31C-4097-AD9B-83A9EEF6E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61913"/>
            <a:ext cx="8801100" cy="673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256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1588E42-8944-4BBB-9CD4-A500A8215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Internet Checksum Algorithm</a:t>
            </a:r>
            <a:endParaRPr lang="en-AU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438CF8B-94E8-49CB-8B59-7A2B1F7CB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Not used at the link level</a:t>
            </a:r>
          </a:p>
          <a:p>
            <a:r>
              <a:rPr lang="en-US" altLang="en-US" sz="2800"/>
              <a:t>Add up all the words that are transmitted and then transmit the result of that sum </a:t>
            </a:r>
          </a:p>
          <a:p>
            <a:pPr lvl="1"/>
            <a:r>
              <a:rPr lang="en-US" altLang="en-US" sz="2400"/>
              <a:t>The result is called the checksum </a:t>
            </a:r>
          </a:p>
          <a:p>
            <a:r>
              <a:rPr lang="en-US" altLang="en-US" sz="2800"/>
              <a:t>The receiver performs the same calculation on the received data and compares the result with the received checksum </a:t>
            </a:r>
          </a:p>
          <a:p>
            <a:r>
              <a:rPr lang="en-US" altLang="en-US" sz="2800"/>
              <a:t>If any transmitted data, including the checksum itself, is corrupted, then the results will not match, so the receiver knows that an error occurred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14AFFD2-E828-4A2C-8192-253E8080B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Internet Checksum Algorithm</a:t>
            </a:r>
            <a:endParaRPr lang="en-AU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D9B0798-6234-4659-9598-46C046F54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Consider the data being checksummed as a sequence of 16-bit integers. </a:t>
            </a:r>
          </a:p>
          <a:p>
            <a:r>
              <a:rPr lang="en-US" altLang="en-US" sz="2800"/>
              <a:t>Add them together using 16-bit ones complement arithmetic (explained next slide) and then take the ones complement of the result.</a:t>
            </a:r>
          </a:p>
          <a:p>
            <a:r>
              <a:rPr lang="en-US" altLang="en-US" sz="2800"/>
              <a:t>That 16-bit number is the checksum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F4A2C7A-36C6-44BB-90B2-ADFD0842B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Internet Checksum Algorithm</a:t>
            </a:r>
            <a:endParaRPr lang="en-AU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DD5E2E6-655D-4D33-91CC-E7396937A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In ones complement arithmetic, a negative integer −x is represented as the complement of x; </a:t>
            </a:r>
          </a:p>
          <a:p>
            <a:pPr lvl="1"/>
            <a:r>
              <a:rPr lang="en-US" altLang="en-US" sz="2400"/>
              <a:t>Each bit of x is inverted.</a:t>
            </a:r>
          </a:p>
          <a:p>
            <a:r>
              <a:rPr lang="en-US" altLang="en-US" sz="2800"/>
              <a:t>When adding numbers in ones complement arithmetic, a carryout from the most significant bit needs to be added to the result.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BD07C23-3E56-449D-B65F-521E97F09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/>
          <a:lstStyle/>
          <a:p>
            <a:pPr eaLnBrk="1" hangingPunct="1"/>
            <a:r>
              <a:rPr lang="en-US" altLang="en-US"/>
              <a:t>Internet Checksum Algorithm</a:t>
            </a:r>
            <a:endParaRPr lang="en-AU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5BD29B2-8C9D-4318-A821-CEB54642D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Consider, for example, the addition of −5 and −3 in ones complement arithmetic on 4-bit integers</a:t>
            </a:r>
          </a:p>
          <a:p>
            <a:pPr lvl="1"/>
            <a:r>
              <a:rPr lang="en-US" altLang="en-US" sz="2400"/>
              <a:t>+5 is 0101, so −5 is 1010; +3 is 0011, so −3 is 1100 </a:t>
            </a:r>
          </a:p>
          <a:p>
            <a:r>
              <a:rPr lang="en-US" altLang="en-US" sz="2800"/>
              <a:t>If we add 1010 and 1100 ignoring the carry, we get 0110 </a:t>
            </a:r>
          </a:p>
          <a:p>
            <a:r>
              <a:rPr lang="en-US" altLang="en-US" sz="2800"/>
              <a:t>In ones complement arithmetic, the fact that this operation caused a carry from the most significant bit causes us to increment the result, giving 0111, which is the ones complement representation of −8 (obtained by inverting the bits in 1000), as we would expect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AA8CB28-8F2D-4D34-AC7D-A09E709F7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2539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D04D7A5-4E91-49F5-A6D7-D5EC4C8DD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85343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9429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421FF4-35E1-40A1-87B8-FEC533F1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67</a:t>
            </a:fld>
            <a:endParaRPr lang="en-US" altLang="en-US"/>
          </a:p>
        </p:txBody>
      </p:sp>
      <p:sp>
        <p:nvSpPr>
          <p:cNvPr id="282626" name="Rectangle 2">
            <a:extLst>
              <a:ext uri="{FF2B5EF4-FFF2-40B4-BE49-F238E27FC236}">
                <a16:creationId xmlns:a16="http://schemas.microsoft.com/office/drawing/2014/main" id="{33920692-79A1-42B5-B371-DA2DA1C2A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Readings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A4A02DAE-152F-4D27-A411-4EBAA5227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5940" y="1558797"/>
            <a:ext cx="8072755" cy="2462213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Tanenbaum &amp; </a:t>
            </a:r>
            <a:r>
              <a:rPr lang="en-US" sz="1600" b="1" i="0" dirty="0" err="1">
                <a:solidFill>
                  <a:srgbClr val="1D1D1F"/>
                </a:solidFill>
                <a:effectLst/>
                <a:latin typeface="system-ui"/>
              </a:rPr>
              <a:t>Wetherall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</a:t>
            </a:r>
            <a:r>
              <a:rPr lang="en-US" sz="1600" b="1" i="1" dirty="0">
                <a:solidFill>
                  <a:srgbClr val="1D1D1F"/>
                </a:solidFill>
                <a:effectLst/>
                <a:latin typeface="system-ui"/>
              </a:rPr>
              <a:t>Computer Networks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6th Ed., Ch. 3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 err="1">
                <a:solidFill>
                  <a:srgbClr val="1D1D1F"/>
                </a:solidFill>
                <a:effectLst/>
                <a:latin typeface="system-ui"/>
              </a:rPr>
              <a:t>Forouzan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</a:t>
            </a:r>
            <a:r>
              <a:rPr lang="en-US" sz="1600" b="1" i="1" dirty="0">
                <a:solidFill>
                  <a:srgbClr val="1D1D1F"/>
                </a:solidFill>
                <a:effectLst/>
                <a:latin typeface="system-ui"/>
              </a:rPr>
              <a:t>Data Communications and Networking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Ch. 10–11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IEEE 802.3-2022 – Ethernet MAC/PHY standards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IEEE 802.11-2020 – Wireless LAN MAC/PHY specifications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Peterson &amp; Davie, </a:t>
            </a:r>
            <a:r>
              <a:rPr lang="en-US" sz="1600" b="1" i="1" dirty="0">
                <a:solidFill>
                  <a:srgbClr val="1D1D1F"/>
                </a:solidFill>
                <a:effectLst/>
                <a:latin typeface="system-ui"/>
              </a:rPr>
              <a:t>Computer Networks: A Systems Approach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Ch. 2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Lin &amp; Costello, </a:t>
            </a:r>
            <a:r>
              <a:rPr lang="en-US" sz="1600" b="1" i="1" dirty="0">
                <a:solidFill>
                  <a:srgbClr val="1D1D1F"/>
                </a:solidFill>
                <a:effectLst/>
                <a:latin typeface="system-ui"/>
              </a:rPr>
              <a:t>Error Control Coding</a:t>
            </a:r>
            <a:r>
              <a:rPr lang="en-US" sz="1600" b="1" i="0" dirty="0">
                <a:solidFill>
                  <a:srgbClr val="1D1D1F"/>
                </a:solidFill>
                <a:effectLst/>
                <a:latin typeface="system-ui"/>
              </a:rPr>
              <a:t>, 2nd Ed. (advanced theory)</a:t>
            </a:r>
          </a:p>
          <a:p>
            <a:pPr algn="l">
              <a:buFont typeface="+mj-lt"/>
              <a:buAutoNum type="arabicPeriod"/>
            </a:pPr>
            <a:r>
              <a:rPr lang="en-US" altLang="en-US" sz="1600" b="1" dirty="0"/>
              <a:t>Chapter 1 (B. A </a:t>
            </a:r>
            <a:r>
              <a:rPr lang="en-US" altLang="en-US" sz="1600" b="1" dirty="0" err="1"/>
              <a:t>Forouzan</a:t>
            </a:r>
            <a:r>
              <a:rPr lang="en-US" altLang="en-US" sz="1600" b="1" dirty="0"/>
              <a:t>)</a:t>
            </a:r>
          </a:p>
          <a:p>
            <a:pPr lvl="1"/>
            <a:r>
              <a:rPr lang="en-US" altLang="en-US" sz="1600" b="1" dirty="0"/>
              <a:t>Section 1.1, 1.2, 1.3,1.4</a:t>
            </a:r>
          </a:p>
          <a:p>
            <a:r>
              <a:rPr lang="en-US" altLang="en-US" sz="1600" b="1" dirty="0"/>
              <a:t>8. Chapter 2 (B.A </a:t>
            </a:r>
            <a:r>
              <a:rPr lang="en-US" altLang="en-US" sz="1600" b="1" dirty="0" err="1"/>
              <a:t>Forouzan</a:t>
            </a:r>
            <a:r>
              <a:rPr lang="en-US" altLang="en-US" sz="1600" b="1" dirty="0"/>
              <a:t>)</a:t>
            </a:r>
          </a:p>
          <a:p>
            <a:pPr lvl="1"/>
            <a:r>
              <a:rPr lang="en-US" altLang="en-US" sz="1600" b="1" dirty="0"/>
              <a:t>Section 2.1, 2.2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D196D8-AF6F-4688-84E2-FC3E3AAB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620C1525-D6B0-4459-A21F-DF24A95A4764}" type="slidenum">
              <a:rPr lang="en-US" altLang="en-US" smtClean="0"/>
              <a:pPr/>
              <a:t>68</a:t>
            </a:fld>
            <a:endParaRPr lang="en-US" altLang="en-US"/>
          </a:p>
        </p:txBody>
      </p:sp>
      <p:pic>
        <p:nvPicPr>
          <p:cNvPr id="278530" name="Picture 2">
            <a:extLst>
              <a:ext uri="{FF2B5EF4-FFF2-40B4-BE49-F238E27FC236}">
                <a16:creationId xmlns:a16="http://schemas.microsoft.com/office/drawing/2014/main" id="{6F98B932-C77D-45FF-B19D-74764BC99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447800"/>
            <a:ext cx="35814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quick visual guide to computer network types.">
            <a:extLst>
              <a:ext uri="{FF2B5EF4-FFF2-40B4-BE49-F238E27FC236}">
                <a16:creationId xmlns:a16="http://schemas.microsoft.com/office/drawing/2014/main" id="{4BEA8CD4-A4ED-43BF-9CB6-95981B990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4075"/>
            <a:ext cx="9144000" cy="514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0876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imeline">
            <a:extLst>
              <a:ext uri="{FF2B5EF4-FFF2-40B4-BE49-F238E27FC236}">
                <a16:creationId xmlns:a16="http://schemas.microsoft.com/office/drawing/2014/main" id="{F5731525-782F-4D99-8207-9E534AF57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152400"/>
            <a:ext cx="74676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9963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 alternative text description for this image">
            <a:extLst>
              <a:ext uri="{FF2B5EF4-FFF2-40B4-BE49-F238E27FC236}">
                <a16:creationId xmlns:a16="http://schemas.microsoft.com/office/drawing/2014/main" id="{DB9F8A22-F5D3-4EFD-9B9A-372DDBE12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6142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able">
            <a:extLst>
              <a:ext uri="{FF2B5EF4-FFF2-40B4-BE49-F238E27FC236}">
                <a16:creationId xmlns:a16="http://schemas.microsoft.com/office/drawing/2014/main" id="{2E601C6D-3D17-4E9D-A7BF-238370D7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0"/>
            <a:ext cx="6857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2648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 alternative text description for this image">
            <a:extLst>
              <a:ext uri="{FF2B5EF4-FFF2-40B4-BE49-F238E27FC236}">
                <a16:creationId xmlns:a16="http://schemas.microsoft.com/office/drawing/2014/main" id="{892052B2-F87F-45B8-B2CC-BE3A5D7DB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0"/>
            <a:ext cx="4700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7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5757</TotalTime>
  <Words>2863</Words>
  <Application>Microsoft Office PowerPoint</Application>
  <PresentationFormat>On-screen Show (4:3)</PresentationFormat>
  <Paragraphs>500</Paragraphs>
  <Slides>73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-apple-system</vt:lpstr>
      <vt:lpstr>Arial</vt:lpstr>
      <vt:lpstr>Arial Black</vt:lpstr>
      <vt:lpstr>Arial MT</vt:lpstr>
      <vt:lpstr>Arial Unicode MS</vt:lpstr>
      <vt:lpstr>Calibri</vt:lpstr>
      <vt:lpstr>Gill Sans MT</vt:lpstr>
      <vt:lpstr>system-ui</vt:lpstr>
      <vt:lpstr>Times New Roman</vt:lpstr>
      <vt:lpstr>Wingdings</vt:lpstr>
      <vt:lpstr>Office Theme</vt:lpstr>
      <vt:lpstr>PowerPoint Presentation</vt:lpstr>
      <vt:lpstr>STANDARDS</vt:lpstr>
      <vt:lpstr>STANDARD ORGANIZATIONS</vt:lpstr>
      <vt:lpstr>Layered Tasks</vt:lpstr>
      <vt:lpstr>Why layered communication?</vt:lpstr>
      <vt:lpstr>Reference Models</vt:lpstr>
      <vt:lpstr>OSI Reference model</vt:lpstr>
      <vt:lpstr>Seven layers of the OSI model</vt:lpstr>
      <vt:lpstr>Exchange using OSI Model</vt:lpstr>
      <vt:lpstr>The interaction between layers in the OSI model</vt:lpstr>
      <vt:lpstr>Issues, to be resolved by the layers</vt:lpstr>
      <vt:lpstr>OSI Layers</vt:lpstr>
      <vt:lpstr>Physical layer</vt:lpstr>
      <vt:lpstr>PowerPoint Presentation</vt:lpstr>
      <vt:lpstr>PowerPoint Presentation</vt:lpstr>
      <vt:lpstr>Data Link layer</vt:lpstr>
      <vt:lpstr>Data Link layer - hop-to-hop delivery-</vt:lpstr>
      <vt:lpstr>Data Link layer - example-</vt:lpstr>
      <vt:lpstr>PowerPoint Presentation</vt:lpstr>
      <vt:lpstr>Framing</vt:lpstr>
      <vt:lpstr>Why Framing?</vt:lpstr>
      <vt:lpstr>Why Framing?</vt:lpstr>
      <vt:lpstr>Framing</vt:lpstr>
      <vt:lpstr>Framing</vt:lpstr>
      <vt:lpstr>Framing</vt:lpstr>
      <vt:lpstr>Framing</vt:lpstr>
      <vt:lpstr>Framing</vt:lpstr>
      <vt:lpstr>Framing</vt:lpstr>
      <vt:lpstr>Framing Techniques</vt:lpstr>
      <vt:lpstr>Framing</vt:lpstr>
      <vt:lpstr>Framing</vt:lpstr>
      <vt:lpstr>Framing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 Detection</vt:lpstr>
      <vt:lpstr>Error Detection</vt:lpstr>
      <vt:lpstr>PowerPoint Presentation</vt:lpstr>
      <vt:lpstr>Error Detection</vt:lpstr>
      <vt:lpstr>Error Detection</vt:lpstr>
      <vt:lpstr>PowerPoint Presentation</vt:lpstr>
      <vt:lpstr>Realtime Bit Error Rate (BER)</vt:lpstr>
      <vt:lpstr>Error detection</vt:lpstr>
      <vt:lpstr>Parity checking</vt:lpstr>
      <vt:lpstr>Single Bit Parity checking (Even Parity)</vt:lpstr>
      <vt:lpstr>Single Bit Parity checking (Capability)</vt:lpstr>
      <vt:lpstr>PowerPoint Presentation</vt:lpstr>
      <vt:lpstr>Two-dimensional parity</vt:lpstr>
      <vt:lpstr>Two-dimensional parity</vt:lpstr>
      <vt:lpstr>Two-dimensional parity</vt:lpstr>
      <vt:lpstr>2D Bit Parity checking (Longitudinal + Vertical)</vt:lpstr>
      <vt:lpstr>Internet checksum </vt:lpstr>
      <vt:lpstr>Internet checksum </vt:lpstr>
      <vt:lpstr>Compliment Arithmetic Example</vt:lpstr>
      <vt:lpstr>PowerPoint Presentation</vt:lpstr>
      <vt:lpstr>PowerPoint Presentation</vt:lpstr>
      <vt:lpstr>Internet Checksum Algorithm</vt:lpstr>
      <vt:lpstr>Internet Checksum Algorithm</vt:lpstr>
      <vt:lpstr>Internet Checksum Algorithm</vt:lpstr>
      <vt:lpstr>Internet Checksum Algorithm</vt:lpstr>
      <vt:lpstr>PowerPoint Presentation</vt:lpstr>
      <vt:lpstr>PowerPoint Presentation</vt:lpstr>
      <vt:lpstr>Readings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EEE314:DATA COMMUNICATIONS &amp; COMPUTER NETWORKS</dc:title>
  <dc:creator>Atif Shakeel</dc:creator>
  <cp:lastModifiedBy>Muhammad Ahmad Nawaz Lecturer FCSE</cp:lastModifiedBy>
  <cp:revision>67</cp:revision>
  <dcterms:created xsi:type="dcterms:W3CDTF">2026-01-28T12:11:51Z</dcterms:created>
  <dcterms:modified xsi:type="dcterms:W3CDTF">2026-02-10T11:39:02Z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2013-02-06T00:00:00Z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2026-01-28T00:00:00Z</vt:filetime>
  </property>
  <property fmtid="{D5CDD505-2E9C-101B-9397-08002B2CF9AE}" pid="5" name="Producer">
    <vt:lpwstr>Microsoft® Office PowerPoint® 2007</vt:lpwstr>
  </property>
</Properties>
</file>